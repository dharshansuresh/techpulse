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and evaluators. Today, I am presenting my project: 'Automotive Engineering AI Assistant - AUTOSAR High-Level Design Document Analysis and Intelligence Platform'. This system automates the understanding of complex automotive software architecture using local Retrieval-Augmented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connected and electric vehicles contain millions of lines of code. Engineers design this software using AUTOSAR architecture specifications that are hundreds of pages long. Our platform reads these PDFs, extracts technical information, and answers questions with exact page numbers.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problem: manual review of 100-plus page automotive specifications is slow and error-prone. Missing one requirement can cause vehicle recalls. Furthermore, engineers cannot use public tools like ChatGPT because automotive designs are confidential trade secrets.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objectives are clear: automate PDF ingestion, provide grounded Q&amp;A with exact citations, extract components and ports, check for safety boundaries, compare document versions, and keep the system 100% local and free.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clearly contrasts the existing manual method against our platform. Manual review takes days and generic AI tools hallucinate. Our proposed system provides sub-second search, strict page-level citations, automated AUTOSAR component parsing, and complete data privacy.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is built on modern Python standards. We use Streamlit for the user interface, FastAPI for REST APIs, PyMuPDF for page-by-page PDF extraction, Sentence Transformers for local embeddings, ChromaDB for vector storage, and SQLite for audit history.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architecture diagram explains the complete four-tier flow: The user accesses the Streamlit web dashboard. The application layer routes requests to PyMuPDF and Sentence Transformers. Text chunks are saved in ChromaDB and SQLite, and the retrieval engine outputs cited answers directly.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working process follows six automated steps: upload and validation, page-by-page extraction with OCR warning, chunking with technical symbol preservation, ChromaDB vector indexing, semantic retrieval, and cited output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live user interface running in Streamlit. On the left are the 8 functional tabs: document management, grounded Q&amp;A, technical search, SWC extraction, inconsistency checks, revision comparison, and export center. On the right is a screenshot of our working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major advantages are verified page citations with zero hallucination, 100% on-premises data privacy, zero recurring API cost, automated AUTOSAR component parsing, and revision delta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development, we encountered real engineering challenges: handling scanned PDFs, managing PyMuPDF API deprecations, SQLite table initialization in test runners, missing config parameters, and false matches on queries with missing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solutions: we added automated scanned PDF detection, updated our PyMuPDF syntax, configured a global Pytest database fixture, added the missing configuration variables, and added a lexical overlap check to reliably detect questions with missing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13, we present our empirical evaluation metrics: In Plot A, our platform achieved 100% retrieval hit rate and 100% citation grounding, far outperforming generic LLM baselines. Plot B shows sub-second to 1.8s response latencies across 10 benchmark queries. Plot C shows linear document indexing scalability up to 110 pages in 2.1s. Plot D confirms 100% pass rate across all 20 automated Pytest test cases.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future enhancements, we have a concrete roadmap: ingesting native AUTOSAR ARXML files directly, building a Knowledge Graph with Neo4j to trace signals across ECUs, adding Vision AI for block diagrams, and migrating to enterprise PostgreSQL.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platform bridges the gap between massive automotive specifications and AI intelligence, saving engineering time while preserving safety and data privacy. Thank you for your time, and I am now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731520"/>
            <a:ext cx="10728655" cy="53949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9966960" cy="2743200"/>
          </a:xfrm>
          <a:prstGeom prst="rect">
            <a:avLst/>
          </a:prstGeom>
          <a:noFill/>
        </p:spPr>
        <p:txBody>
          <a:bodyPr wrap="square">
            <a:spAutoFit/>
          </a:bodyPr>
          <a:lstStyle/>
          <a:p>
            <a:pPr>
              <a:defRPr sz="1200" b="1">
                <a:solidFill>
                  <a:srgbClr val="2563EB"/>
                </a:solidFill>
              </a:defRPr>
            </a:pPr>
            <a:r>
              <a:t>COLLEGE CAPSTONE PROJECT PRESENTATION | ACADEMIC YEAR 2026</a:t>
            </a:r>
          </a:p>
          <a:p>
            <a:pPr>
              <a:defRPr sz="3600" b="1">
                <a:solidFill>
                  <a:srgbClr val="1E3A8A"/>
                </a:solidFill>
              </a:defRPr>
            </a:pPr>
            <a:r>
              <a:t>Automotive Engineering AI Assistant</a:t>
            </a:r>
          </a:p>
          <a:p>
            <a:pPr>
              <a:defRPr sz="1800">
                <a:solidFill>
                  <a:srgbClr val="475569"/>
                </a:solidFill>
              </a:defRPr>
            </a:pPr>
            <a:r>
              <a:t>AUTOSAR High-Level Design (HLD) Document Analysis &amp; Intelligence Platform</a:t>
            </a:r>
          </a:p>
        </p:txBody>
      </p:sp>
      <p:sp>
        <p:nvSpPr>
          <p:cNvPr id="4" name="TextBox 3"/>
          <p:cNvSpPr txBox="1"/>
          <p:nvPr/>
        </p:nvSpPr>
        <p:spPr>
          <a:xfrm>
            <a:off x="1097280" y="3931920"/>
            <a:ext cx="9966960" cy="1828800"/>
          </a:xfrm>
          <a:prstGeom prst="rect">
            <a:avLst/>
          </a:prstGeom>
          <a:noFill/>
        </p:spPr>
        <p:txBody>
          <a:bodyPr wrap="square">
            <a:spAutoFit/>
          </a:bodyPr>
          <a:lstStyle/>
          <a:p>
            <a:pPr>
              <a:defRPr sz="1400" b="1">
                <a:solidFill>
                  <a:srgbClr val="0F172A"/>
                </a:solidFill>
              </a:defRPr>
            </a:pPr>
            <a:r>
              <a:t>Presented by: DHARSHAN S  |  Reg. No: 127156028</a:t>
            </a:r>
          </a:p>
          <a:p>
            <a:pPr>
              <a:defRPr sz="1300">
                <a:solidFill>
                  <a:srgbClr val="475569"/>
                </a:solidFill>
              </a:defRPr>
            </a:pPr>
            <a:r>
              <a:t>Department: Department of Computer Science &amp; Engineering (AI &amp; ML)</a:t>
            </a:r>
          </a:p>
          <a:p>
            <a:pPr>
              <a:defRPr sz="1300">
                <a:solidFill>
                  <a:srgbClr val="475569"/>
                </a:solidFill>
              </a:defRPr>
            </a:pPr>
            <a:r>
              <a:t>Institution: SASTRA Deemed to be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PROJECT OVERVIEW</a:t>
            </a:r>
          </a:p>
          <a:p>
            <a:pPr>
              <a:defRPr sz="2400" b="1">
                <a:solidFill>
                  <a:srgbClr val="1E3A8A"/>
                </a:solidFill>
              </a:defRPr>
            </a:pPr>
            <a:r>
              <a:t>Introduction to the Project</a:t>
            </a:r>
          </a:p>
        </p:txBody>
      </p:sp>
      <p:sp>
        <p:nvSpPr>
          <p:cNvPr id="3" name="Rounded Rectangle 2"/>
          <p:cNvSpPr/>
          <p:nvPr/>
        </p:nvSpPr>
        <p:spPr>
          <a:xfrm>
            <a:off x="731520" y="164592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4754880" cy="411480"/>
          </a:xfrm>
          <a:prstGeom prst="rect">
            <a:avLst/>
          </a:prstGeom>
          <a:noFill/>
        </p:spPr>
        <p:txBody>
          <a:bodyPr wrap="square">
            <a:spAutoFit/>
          </a:bodyPr>
          <a:lstStyle/>
          <a:p>
            <a:pPr>
              <a:defRPr sz="1500" b="1">
                <a:solidFill>
                  <a:srgbClr val="1E3A8A"/>
                </a:solidFill>
              </a:defRPr>
            </a:pPr>
            <a:r>
              <a:t>What is the Project?</a:t>
            </a:r>
          </a:p>
        </p:txBody>
      </p:sp>
      <p:sp>
        <p:nvSpPr>
          <p:cNvPr id="5" name="TextBox 4"/>
          <p:cNvSpPr txBox="1"/>
          <p:nvPr/>
        </p:nvSpPr>
        <p:spPr>
          <a:xfrm>
            <a:off x="914400" y="2194560"/>
            <a:ext cx="4754880" cy="3840480"/>
          </a:xfrm>
          <a:prstGeom prst="rect">
            <a:avLst/>
          </a:prstGeom>
          <a:noFill/>
        </p:spPr>
        <p:txBody>
          <a:bodyPr wrap="square">
            <a:spAutoFit/>
          </a:bodyPr>
          <a:lstStyle/>
          <a:p>
            <a:pPr>
              <a:spcAft>
                <a:spcPts val="1200"/>
              </a:spcAft>
              <a:defRPr sz="1300">
                <a:solidFill>
                  <a:srgbClr val="0F172A"/>
                </a:solidFill>
              </a:defRPr>
            </a:pPr>
            <a:r>
              <a:t>• An AI-powered platform tailored specifically for automotive software engineering.</a:t>
            </a:r>
          </a:p>
          <a:p>
            <a:pPr>
              <a:spcAft>
                <a:spcPts val="1200"/>
              </a:spcAft>
              <a:defRPr sz="1300">
                <a:solidFill>
                  <a:srgbClr val="0F172A"/>
                </a:solidFill>
              </a:defRPr>
            </a:pPr>
            <a:r>
              <a:t>• Ingests large AUTOSAR High-Level Design (HLD) PDF documents (up to 100+ pages).</a:t>
            </a:r>
          </a:p>
          <a:p>
            <a:pPr>
              <a:spcAft>
                <a:spcPts val="1200"/>
              </a:spcAft>
              <a:defRPr sz="1300">
                <a:solidFill>
                  <a:srgbClr val="0F172A"/>
                </a:solidFill>
              </a:defRPr>
            </a:pPr>
            <a:r>
              <a:t>• Enables engineers to ask natural language questions about software components, ports, and interfaces.</a:t>
            </a:r>
          </a:p>
          <a:p>
            <a:pPr>
              <a:spcAft>
                <a:spcPts val="1200"/>
              </a:spcAft>
              <a:defRPr sz="1300">
                <a:solidFill>
                  <a:srgbClr val="0F172A"/>
                </a:solidFill>
              </a:defRPr>
            </a:pPr>
            <a:r>
              <a:t>• Answers with strict document and original page-number citations (e.g. Page 47).</a:t>
            </a:r>
          </a:p>
          <a:p>
            <a:pPr>
              <a:spcAft>
                <a:spcPts val="1200"/>
              </a:spcAft>
              <a:defRPr sz="1300">
                <a:solidFill>
                  <a:srgbClr val="0F172A"/>
                </a:solidFill>
              </a:defRPr>
            </a:pPr>
            <a:r>
              <a:t>• Runs 100% locally on a normal laptop without requiring paid APIs or cloud dependencies.</a:t>
            </a:r>
          </a:p>
        </p:txBody>
      </p:sp>
      <p:sp>
        <p:nvSpPr>
          <p:cNvPr id="6" name="Rounded Rectangle 5"/>
          <p:cNvSpPr/>
          <p:nvPr/>
        </p:nvSpPr>
        <p:spPr>
          <a:xfrm>
            <a:off x="6309360" y="164592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55648"/>
            <a:ext cx="4754880" cy="411480"/>
          </a:xfrm>
          <a:prstGeom prst="rect">
            <a:avLst/>
          </a:prstGeom>
          <a:noFill/>
        </p:spPr>
        <p:txBody>
          <a:bodyPr wrap="square">
            <a:spAutoFit/>
          </a:bodyPr>
          <a:lstStyle/>
          <a:p>
            <a:pPr>
              <a:defRPr sz="1500" b="1">
                <a:solidFill>
                  <a:srgbClr val="1E3A8A"/>
                </a:solidFill>
              </a:defRPr>
            </a:pPr>
            <a:r>
              <a:t>Why Automotive Software?</a:t>
            </a:r>
          </a:p>
        </p:txBody>
      </p:sp>
      <p:sp>
        <p:nvSpPr>
          <p:cNvPr id="8" name="TextBox 7"/>
          <p:cNvSpPr txBox="1"/>
          <p:nvPr/>
        </p:nvSpPr>
        <p:spPr>
          <a:xfrm>
            <a:off x="6492240" y="2194560"/>
            <a:ext cx="4754880" cy="3840480"/>
          </a:xfrm>
          <a:prstGeom prst="rect">
            <a:avLst/>
          </a:prstGeom>
          <a:noFill/>
        </p:spPr>
        <p:txBody>
          <a:bodyPr wrap="square">
            <a:spAutoFit/>
          </a:bodyPr>
          <a:lstStyle/>
          <a:p>
            <a:pPr>
              <a:spcAft>
                <a:spcPts val="1200"/>
              </a:spcAft>
              <a:defRPr sz="1300">
                <a:solidFill>
                  <a:srgbClr val="1E3A8A"/>
                </a:solidFill>
              </a:defRPr>
            </a:pPr>
            <a:r>
              <a:t>✔ Modern vehicles run over 100 million lines of code across 70+ Electronic Control Units (ECUs).</a:t>
            </a:r>
          </a:p>
          <a:p>
            <a:pPr>
              <a:spcAft>
                <a:spcPts val="1200"/>
              </a:spcAft>
              <a:defRPr sz="1300">
                <a:solidFill>
                  <a:srgbClr val="1E3A8A"/>
                </a:solidFill>
              </a:defRPr>
            </a:pPr>
            <a:r>
              <a:t>✔ AUTOSAR (Automotive Open System Architecture) is the global standard for automotive firmware.</a:t>
            </a:r>
          </a:p>
          <a:p>
            <a:pPr>
              <a:spcAft>
                <a:spcPts val="1200"/>
              </a:spcAft>
              <a:defRPr sz="1300">
                <a:solidFill>
                  <a:srgbClr val="1E3A8A"/>
                </a:solidFill>
              </a:defRPr>
            </a:pPr>
            <a:r>
              <a:t>✔ System specifications are dense, filled with signals, cycle times, and ISO 26262 safety goals.</a:t>
            </a:r>
          </a:p>
          <a:p>
            <a:pPr>
              <a:spcAft>
                <a:spcPts val="1200"/>
              </a:spcAft>
              <a:defRPr sz="1300">
                <a:solidFill>
                  <a:srgbClr val="1E3A8A"/>
                </a:solidFill>
              </a:defRPr>
            </a:pPr>
            <a:r>
              <a:t>✔ Our system provides instant, verified knowledge retrieval so engineers can design and review systems faster.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THE CHALLENGE</a:t>
            </a:r>
          </a:p>
          <a:p>
            <a:pPr>
              <a:defRPr sz="2400" b="1">
                <a:solidFill>
                  <a:srgbClr val="1E3A8A"/>
                </a:solidFill>
              </a:defRPr>
            </a:pPr>
            <a:r>
              <a:t>Problem Statement &amp; Industry Pain Points</a:t>
            </a:r>
          </a:p>
        </p:txBody>
      </p:sp>
      <p:sp>
        <p:nvSpPr>
          <p:cNvPr id="3" name="Rounded Rectangle 2"/>
          <p:cNvSpPr/>
          <p:nvPr/>
        </p:nvSpPr>
        <p:spPr>
          <a:xfrm>
            <a:off x="731520" y="1645920"/>
            <a:ext cx="10728655" cy="1051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10332720" cy="822960"/>
          </a:xfrm>
          <a:prstGeom prst="rect">
            <a:avLst/>
          </a:prstGeom>
          <a:noFill/>
        </p:spPr>
        <p:txBody>
          <a:bodyPr wrap="square">
            <a:spAutoFit/>
          </a:bodyPr>
          <a:lstStyle/>
          <a:p>
            <a:pPr>
              <a:defRPr sz="1400" b="1">
                <a:solidFill>
                  <a:srgbClr val="DC2626"/>
                </a:solidFill>
              </a:defRPr>
            </a:pPr>
            <a:r>
              <a:t>❌ 1. Massive &amp; Unstructured PDFs</a:t>
            </a:r>
          </a:p>
          <a:p>
            <a:pPr>
              <a:defRPr sz="1150">
                <a:solidFill>
                  <a:srgbClr val="0F172A"/>
                </a:solidFill>
              </a:defRPr>
            </a:pPr>
            <a:r>
              <a:t>Automotive High-Level Design (HLD) specifications typically span 100 to 500 pages. They are maintained as unstructured PDFs that are difficult to search across.</a:t>
            </a:r>
          </a:p>
        </p:txBody>
      </p:sp>
      <p:sp>
        <p:nvSpPr>
          <p:cNvPr id="5" name="Rounded Rectangle 4"/>
          <p:cNvSpPr/>
          <p:nvPr/>
        </p:nvSpPr>
        <p:spPr>
          <a:xfrm>
            <a:off x="731520" y="2788920"/>
            <a:ext cx="10728655" cy="1051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98648"/>
            <a:ext cx="10332720" cy="822960"/>
          </a:xfrm>
          <a:prstGeom prst="rect">
            <a:avLst/>
          </a:prstGeom>
          <a:noFill/>
        </p:spPr>
        <p:txBody>
          <a:bodyPr wrap="square">
            <a:spAutoFit/>
          </a:bodyPr>
          <a:lstStyle/>
          <a:p>
            <a:pPr>
              <a:defRPr sz="1400" b="1">
                <a:solidFill>
                  <a:srgbClr val="DC2626"/>
                </a:solidFill>
              </a:defRPr>
            </a:pPr>
            <a:r>
              <a:t>❌ 2. Slow &amp; Tedious Manual Review</a:t>
            </a:r>
          </a:p>
          <a:p>
            <a:pPr>
              <a:defRPr sz="1150">
                <a:solidFill>
                  <a:srgbClr val="0F172A"/>
                </a:solidFill>
              </a:defRPr>
            </a:pPr>
            <a:r>
              <a:t>Software architects, developers, and testers spend days manually reading specifications to trace software components, communication matrices, and timing signals.</a:t>
            </a:r>
          </a:p>
        </p:txBody>
      </p:sp>
      <p:sp>
        <p:nvSpPr>
          <p:cNvPr id="7" name="Rounded Rectangle 6"/>
          <p:cNvSpPr/>
          <p:nvPr/>
        </p:nvSpPr>
        <p:spPr>
          <a:xfrm>
            <a:off x="731520" y="3931920"/>
            <a:ext cx="10728655" cy="1051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41648"/>
            <a:ext cx="10332720" cy="822960"/>
          </a:xfrm>
          <a:prstGeom prst="rect">
            <a:avLst/>
          </a:prstGeom>
          <a:noFill/>
        </p:spPr>
        <p:txBody>
          <a:bodyPr wrap="square">
            <a:spAutoFit/>
          </a:bodyPr>
          <a:lstStyle/>
          <a:p>
            <a:pPr>
              <a:defRPr sz="1400" b="1">
                <a:solidFill>
                  <a:srgbClr val="DC2626"/>
                </a:solidFill>
              </a:defRPr>
            </a:pPr>
            <a:r>
              <a:t>❌ 3. High Cost of Human Error</a:t>
            </a:r>
          </a:p>
          <a:p>
            <a:pPr>
              <a:defRPr sz="1150">
                <a:solidFill>
                  <a:srgbClr val="0F172A"/>
                </a:solidFill>
              </a:defRPr>
            </a:pPr>
            <a:r>
              <a:t>Overlooking a single interface definition, mismatched cycle time, or incorrect ASIL safety rating can lead to critical vehicle firmware defects or safety recalls.</a:t>
            </a:r>
          </a:p>
        </p:txBody>
      </p:sp>
      <p:sp>
        <p:nvSpPr>
          <p:cNvPr id="9" name="Rounded Rectangle 8"/>
          <p:cNvSpPr/>
          <p:nvPr/>
        </p:nvSpPr>
        <p:spPr>
          <a:xfrm>
            <a:off x="731520" y="5074920"/>
            <a:ext cx="10728655" cy="1051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84648"/>
            <a:ext cx="10332720" cy="822960"/>
          </a:xfrm>
          <a:prstGeom prst="rect">
            <a:avLst/>
          </a:prstGeom>
          <a:noFill/>
        </p:spPr>
        <p:txBody>
          <a:bodyPr wrap="square">
            <a:spAutoFit/>
          </a:bodyPr>
          <a:lstStyle/>
          <a:p>
            <a:pPr>
              <a:defRPr sz="1400" b="1">
                <a:solidFill>
                  <a:srgbClr val="DC2626"/>
                </a:solidFill>
              </a:defRPr>
            </a:pPr>
            <a:r>
              <a:t>❌ 4. Strict Confidentiality &amp; IP Protection</a:t>
            </a:r>
          </a:p>
          <a:p>
            <a:pPr>
              <a:defRPr sz="1150">
                <a:solidFill>
                  <a:srgbClr val="0F172A"/>
                </a:solidFill>
              </a:defRPr>
            </a:pPr>
            <a:r>
              <a:t>Automotive OEMs (e.g. Bosch, Continental, BMW) cannot paste confidential ECU blueprints into public cloud tools like ChatGPT due to trade secret rules (ISO 21434).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PROJECT GOALS</a:t>
            </a:r>
          </a:p>
          <a:p>
            <a:pPr>
              <a:defRPr sz="2400" b="1">
                <a:solidFill>
                  <a:srgbClr val="1E3A8A"/>
                </a:solidFill>
              </a:defRPr>
            </a:pPr>
            <a:r>
              <a:t>Project Objectives &amp; Scope</a:t>
            </a:r>
          </a:p>
        </p:txBody>
      </p:sp>
      <p:sp>
        <p:nvSpPr>
          <p:cNvPr id="3" name="Rounded Rectangle 2"/>
          <p:cNvSpPr/>
          <p:nvPr/>
        </p:nvSpPr>
        <p:spPr>
          <a:xfrm>
            <a:off x="731520" y="164592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4846320" cy="1097280"/>
          </a:xfrm>
          <a:prstGeom prst="rect">
            <a:avLst/>
          </a:prstGeom>
          <a:noFill/>
        </p:spPr>
        <p:txBody>
          <a:bodyPr wrap="square">
            <a:spAutoFit/>
          </a:bodyPr>
          <a:lstStyle/>
          <a:p>
            <a:pPr>
              <a:defRPr sz="1350" b="1">
                <a:solidFill>
                  <a:srgbClr val="1E3A8A"/>
                </a:solidFill>
              </a:defRPr>
            </a:pPr>
            <a:r>
              <a:t>🎯 Automated PDF Ingestion</a:t>
            </a:r>
          </a:p>
          <a:p>
            <a:pPr>
              <a:defRPr sz="1100">
                <a:solidFill>
                  <a:srgbClr val="0F172A"/>
                </a:solidFill>
              </a:defRPr>
            </a:pPr>
            <a:r>
              <a:t>Extract text page-by-page while strictly preserving original 1-indexed page numbers. Automatically detect scanned PDFs and trigger OCR warnings.</a:t>
            </a:r>
          </a:p>
        </p:txBody>
      </p:sp>
      <p:sp>
        <p:nvSpPr>
          <p:cNvPr id="5" name="Rounded Rectangle 4"/>
          <p:cNvSpPr/>
          <p:nvPr/>
        </p:nvSpPr>
        <p:spPr>
          <a:xfrm>
            <a:off x="6126480" y="164592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55648"/>
            <a:ext cx="4846320" cy="1097280"/>
          </a:xfrm>
          <a:prstGeom prst="rect">
            <a:avLst/>
          </a:prstGeom>
          <a:noFill/>
        </p:spPr>
        <p:txBody>
          <a:bodyPr wrap="square">
            <a:spAutoFit/>
          </a:bodyPr>
          <a:lstStyle/>
          <a:p>
            <a:pPr>
              <a:defRPr sz="1350" b="1">
                <a:solidFill>
                  <a:srgbClr val="1E3A8A"/>
                </a:solidFill>
              </a:defRPr>
            </a:pPr>
            <a:r>
              <a:t>🎯 Evidence-Grounded Q&amp;A (RAG)</a:t>
            </a:r>
          </a:p>
          <a:p>
            <a:pPr>
              <a:defRPr sz="1100">
                <a:solidFill>
                  <a:srgbClr val="0F172A"/>
                </a:solidFill>
              </a:defRPr>
            </a:pPr>
            <a:r>
              <a:t>Provide natural language search where all answers are strictly grounded in retrieved document evidence with verified page citations.</a:t>
            </a:r>
          </a:p>
        </p:txBody>
      </p:sp>
      <p:sp>
        <p:nvSpPr>
          <p:cNvPr id="7" name="Rounded Rectangle 6"/>
          <p:cNvSpPr/>
          <p:nvPr/>
        </p:nvSpPr>
        <p:spPr>
          <a:xfrm>
            <a:off x="731520" y="315468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64408"/>
            <a:ext cx="4846320" cy="1097280"/>
          </a:xfrm>
          <a:prstGeom prst="rect">
            <a:avLst/>
          </a:prstGeom>
          <a:noFill/>
        </p:spPr>
        <p:txBody>
          <a:bodyPr wrap="square">
            <a:spAutoFit/>
          </a:bodyPr>
          <a:lstStyle/>
          <a:p>
            <a:pPr>
              <a:defRPr sz="1350" b="1">
                <a:solidFill>
                  <a:srgbClr val="1E3A8A"/>
                </a:solidFill>
              </a:defRPr>
            </a:pPr>
            <a:r>
              <a:t>🎯 Automotive Component Extraction</a:t>
            </a:r>
          </a:p>
          <a:p>
            <a:pPr>
              <a:defRPr sz="1100">
                <a:solidFill>
                  <a:srgbClr val="0F172A"/>
                </a:solidFill>
              </a:defRPr>
            </a:pPr>
            <a:r>
              <a:t>Automatically discover candidate Software Components (SWCs), Provided Ports (P-Ports), Required Ports (R-Ports), cycle times, and ASIL ratings.</a:t>
            </a:r>
          </a:p>
        </p:txBody>
      </p:sp>
      <p:sp>
        <p:nvSpPr>
          <p:cNvPr id="9" name="Rounded Rectangle 8"/>
          <p:cNvSpPr/>
          <p:nvPr/>
        </p:nvSpPr>
        <p:spPr>
          <a:xfrm>
            <a:off x="6126480" y="315468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3264408"/>
            <a:ext cx="4846320" cy="1097280"/>
          </a:xfrm>
          <a:prstGeom prst="rect">
            <a:avLst/>
          </a:prstGeom>
          <a:noFill/>
        </p:spPr>
        <p:txBody>
          <a:bodyPr wrap="square">
            <a:spAutoFit/>
          </a:bodyPr>
          <a:lstStyle/>
          <a:p>
            <a:pPr>
              <a:defRPr sz="1350" b="1">
                <a:solidFill>
                  <a:srgbClr val="1E3A8A"/>
                </a:solidFill>
              </a:defRPr>
            </a:pPr>
            <a:r>
              <a:t>🎯 Inconsistency &amp; Safety Checks</a:t>
            </a:r>
          </a:p>
          <a:p>
            <a:pPr>
              <a:defRPr sz="1100">
                <a:solidFill>
                  <a:srgbClr val="0F172A"/>
                </a:solidFill>
              </a:defRPr>
            </a:pPr>
            <a:r>
              <a:t>Detect unmapped ports, sampling rate conflicts, and ISO 26262 ASIL safety boundaries across components.</a:t>
            </a:r>
          </a:p>
        </p:txBody>
      </p:sp>
      <p:sp>
        <p:nvSpPr>
          <p:cNvPr id="11" name="Rounded Rectangle 10"/>
          <p:cNvSpPr/>
          <p:nvPr/>
        </p:nvSpPr>
        <p:spPr>
          <a:xfrm>
            <a:off x="731520" y="466344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73168"/>
            <a:ext cx="4846320" cy="1097280"/>
          </a:xfrm>
          <a:prstGeom prst="rect">
            <a:avLst/>
          </a:prstGeom>
          <a:noFill/>
        </p:spPr>
        <p:txBody>
          <a:bodyPr wrap="square">
            <a:spAutoFit/>
          </a:bodyPr>
          <a:lstStyle/>
          <a:p>
            <a:pPr>
              <a:defRPr sz="1350" b="1">
                <a:solidFill>
                  <a:srgbClr val="1E3A8A"/>
                </a:solidFill>
              </a:defRPr>
            </a:pPr>
            <a:r>
              <a:t>🎯 Document Revision Comparison</a:t>
            </a:r>
          </a:p>
          <a:p>
            <a:pPr>
              <a:defRPr sz="1100">
                <a:solidFill>
                  <a:srgbClr val="0F172A"/>
                </a:solidFill>
              </a:defRPr>
            </a:pPr>
            <a:r>
              <a:t>Compare Version 1.0 against Version 2.0 to highlight added/modified components and explain the engineering impact.</a:t>
            </a:r>
          </a:p>
        </p:txBody>
      </p:sp>
      <p:sp>
        <p:nvSpPr>
          <p:cNvPr id="13" name="Rounded Rectangle 12"/>
          <p:cNvSpPr/>
          <p:nvPr/>
        </p:nvSpPr>
        <p:spPr>
          <a:xfrm>
            <a:off x="6126480" y="466344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773168"/>
            <a:ext cx="4846320" cy="1097280"/>
          </a:xfrm>
          <a:prstGeom prst="rect">
            <a:avLst/>
          </a:prstGeom>
          <a:noFill/>
        </p:spPr>
        <p:txBody>
          <a:bodyPr wrap="square">
            <a:spAutoFit/>
          </a:bodyPr>
          <a:lstStyle/>
          <a:p>
            <a:pPr>
              <a:defRPr sz="1350" b="1">
                <a:solidFill>
                  <a:srgbClr val="1E3A8A"/>
                </a:solidFill>
              </a:defRPr>
            </a:pPr>
            <a:r>
              <a:t>🎯 100% Local &amp; Cost-Free Operation</a:t>
            </a:r>
          </a:p>
          <a:p>
            <a:pPr>
              <a:defRPr sz="1100">
                <a:solidFill>
                  <a:srgbClr val="0F172A"/>
                </a:solidFill>
              </a:defRPr>
            </a:pPr>
            <a:r>
              <a:t>Ensure the entire platform runs locally on a standard laptop without GPU requirements or mandatory paid API keys.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SYSTEM COMPARISON</a:t>
            </a:r>
          </a:p>
          <a:p>
            <a:pPr>
              <a:defRPr sz="2400" b="1">
                <a:solidFill>
                  <a:srgbClr val="1E3A8A"/>
                </a:solidFill>
              </a:defRPr>
            </a:pPr>
            <a:r>
              <a:t>Existing System vs. Proposed Proposed System</a:t>
            </a:r>
          </a:p>
        </p:txBody>
      </p:sp>
      <p:graphicFrame>
        <p:nvGraphicFramePr>
          <p:cNvPr id="3" name="Table 2"/>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468880"/>
                <a:gridCol w="4114800"/>
                <a:gridCol w="4144975"/>
              </a:tblGrid>
              <a:tr h="731520">
                <a:tc>
                  <a:txBody>
                    <a:bodyPr/>
                    <a:lstStyle/>
                    <a:p>
                      <a:pPr>
                        <a:defRPr sz="1300" b="1">
                          <a:solidFill>
                            <a:srgbClr val="FFFFFF"/>
                          </a:solidFill>
                        </a:defRPr>
                      </a:pPr>
                      <a:r>
                        <a:t>Evaluation Criteria</a:t>
                      </a:r>
                    </a:p>
                  </a:txBody>
                  <a:tcPr>
                    <a:solidFill>
                      <a:srgbClr val="1E3A8A"/>
                    </a:solidFill>
                  </a:tcPr>
                </a:tc>
                <a:tc>
                  <a:txBody>
                    <a:bodyPr/>
                    <a:lstStyle/>
                    <a:p>
                      <a:pPr>
                        <a:defRPr sz="1300" b="1">
                          <a:solidFill>
                            <a:srgbClr val="FFFFFF"/>
                          </a:solidFill>
                        </a:defRPr>
                      </a:pPr>
                      <a:r>
                        <a:t>Existing Method (Manual / Standard AI)</a:t>
                      </a:r>
                    </a:p>
                  </a:txBody>
                  <a:tcPr>
                    <a:solidFill>
                      <a:srgbClr val="1E3A8A"/>
                    </a:solidFill>
                  </a:tcPr>
                </a:tc>
                <a:tc>
                  <a:txBody>
                    <a:bodyPr/>
                    <a:lstStyle/>
                    <a:p>
                      <a:pPr>
                        <a:defRPr sz="1300" b="1">
                          <a:solidFill>
                            <a:srgbClr val="FFFFFF"/>
                          </a:solidFill>
                        </a:defRPr>
                      </a:pPr>
                      <a:r>
                        <a:t>Our Proposed AI Assistant Platform</a:t>
                      </a:r>
                    </a:p>
                  </a:txBody>
                  <a:tcPr>
                    <a:solidFill>
                      <a:srgbClr val="1E3A8A"/>
                    </a:solidFill>
                  </a:tcPr>
                </a:tc>
              </a:tr>
              <a:tr h="731520">
                <a:tc>
                  <a:txBody>
                    <a:bodyPr/>
                    <a:lstStyle/>
                    <a:p>
                      <a:pPr>
                        <a:defRPr sz="1100">
                          <a:solidFill>
                            <a:srgbClr val="0F172A"/>
                          </a:solidFill>
                        </a:defRPr>
                      </a:pPr>
                      <a:r>
                        <a:t>Document Review Speed</a:t>
                      </a:r>
                    </a:p>
                  </a:txBody>
                  <a:tcPr>
                    <a:solidFill>
                      <a:srgbClr val="FFFFFF"/>
                    </a:solidFill>
                  </a:tcPr>
                </a:tc>
                <a:tc>
                  <a:txBody>
                    <a:bodyPr/>
                    <a:lstStyle/>
                    <a:p>
                      <a:pPr>
                        <a:defRPr sz="1100">
                          <a:solidFill>
                            <a:srgbClr val="0F172A"/>
                          </a:solidFill>
                        </a:defRPr>
                      </a:pPr>
                      <a:r>
                        <a:t>Manual reading; takes days or weeks to review 100+ pages.</a:t>
                      </a:r>
                    </a:p>
                  </a:txBody>
                  <a:tcPr>
                    <a:solidFill>
                      <a:srgbClr val="FFFFFF"/>
                    </a:solidFill>
                  </a:tcPr>
                </a:tc>
                <a:tc>
                  <a:txBody>
                    <a:bodyPr/>
                    <a:lstStyle/>
                    <a:p>
                      <a:pPr>
                        <a:defRPr sz="1100" b="1">
                          <a:solidFill>
                            <a:srgbClr val="1E3A8A"/>
                          </a:solidFill>
                        </a:defRPr>
                      </a:pPr>
                      <a:r>
                        <a:t>Instant semantic retrieval in under 1 second.</a:t>
                      </a:r>
                    </a:p>
                  </a:txBody>
                  <a:tcPr>
                    <a:solidFill>
                      <a:srgbClr val="FFFFFF"/>
                    </a:solidFill>
                  </a:tcPr>
                </a:tc>
              </a:tr>
              <a:tr h="731520">
                <a:tc>
                  <a:txBody>
                    <a:bodyPr/>
                    <a:lstStyle/>
                    <a:p>
                      <a:pPr>
                        <a:defRPr sz="1100">
                          <a:solidFill>
                            <a:srgbClr val="0F172A"/>
                          </a:solidFill>
                        </a:defRPr>
                      </a:pPr>
                      <a:r>
                        <a:t>Answer Grounding</a:t>
                      </a:r>
                    </a:p>
                  </a:txBody>
                  <a:tcPr>
                    <a:solidFill>
                      <a:srgbClr val="F1F5F9"/>
                    </a:solidFill>
                  </a:tcPr>
                </a:tc>
                <a:tc>
                  <a:txBody>
                    <a:bodyPr/>
                    <a:lstStyle/>
                    <a:p>
                      <a:pPr>
                        <a:defRPr sz="1100">
                          <a:solidFill>
                            <a:srgbClr val="0F172A"/>
                          </a:solidFill>
                        </a:defRPr>
                      </a:pPr>
                      <a:r>
                        <a:t>Generic chatbots hallucinate or guess technical parameters.</a:t>
                      </a:r>
                    </a:p>
                  </a:txBody>
                  <a:tcPr>
                    <a:solidFill>
                      <a:srgbClr val="F1F5F9"/>
                    </a:solidFill>
                  </a:tcPr>
                </a:tc>
                <a:tc>
                  <a:txBody>
                    <a:bodyPr/>
                    <a:lstStyle/>
                    <a:p>
                      <a:pPr>
                        <a:defRPr sz="1100" b="1">
                          <a:solidFill>
                            <a:srgbClr val="1E3A8A"/>
                          </a:solidFill>
                        </a:defRPr>
                      </a:pPr>
                      <a:r>
                        <a:t>Strict grounding: answers only from document text with citations.</a:t>
                      </a:r>
                    </a:p>
                  </a:txBody>
                  <a:tcPr>
                    <a:solidFill>
                      <a:srgbClr val="F1F5F9"/>
                    </a:solidFill>
                  </a:tcPr>
                </a:tc>
              </a:tr>
              <a:tr h="731520">
                <a:tc>
                  <a:txBody>
                    <a:bodyPr/>
                    <a:lstStyle/>
                    <a:p>
                      <a:pPr>
                        <a:defRPr sz="1100">
                          <a:solidFill>
                            <a:srgbClr val="0F172A"/>
                          </a:solidFill>
                        </a:defRPr>
                      </a:pPr>
                      <a:r>
                        <a:t>Citation Provenance</a:t>
                      </a:r>
                    </a:p>
                  </a:txBody>
                  <a:tcPr>
                    <a:solidFill>
                      <a:srgbClr val="FFFFFF"/>
                    </a:solidFill>
                  </a:tcPr>
                </a:tc>
                <a:tc>
                  <a:txBody>
                    <a:bodyPr/>
                    <a:lstStyle/>
                    <a:p>
                      <a:pPr>
                        <a:defRPr sz="1100">
                          <a:solidFill>
                            <a:srgbClr val="0F172A"/>
                          </a:solidFill>
                        </a:defRPr>
                      </a:pPr>
                      <a:r>
                        <a:t>No citations or vague references provided.</a:t>
                      </a:r>
                    </a:p>
                  </a:txBody>
                  <a:tcPr>
                    <a:solidFill>
                      <a:srgbClr val="FFFFFF"/>
                    </a:solidFill>
                  </a:tcPr>
                </a:tc>
                <a:tc>
                  <a:txBody>
                    <a:bodyPr/>
                    <a:lstStyle/>
                    <a:p>
                      <a:pPr>
                        <a:defRPr sz="1100" b="1">
                          <a:solidFill>
                            <a:srgbClr val="1E3A8A"/>
                          </a:solidFill>
                        </a:defRPr>
                      </a:pPr>
                      <a:r>
                        <a:t>Exact page-by-page citations: [Doc: file.pdf, Page: 47].</a:t>
                      </a:r>
                    </a:p>
                  </a:txBody>
                  <a:tcPr>
                    <a:solidFill>
                      <a:srgbClr val="FFFFFF"/>
                    </a:solidFill>
                  </a:tcPr>
                </a:tc>
              </a:tr>
              <a:tr h="731520">
                <a:tc>
                  <a:txBody>
                    <a:bodyPr/>
                    <a:lstStyle/>
                    <a:p>
                      <a:pPr>
                        <a:defRPr sz="1100">
                          <a:solidFill>
                            <a:srgbClr val="0F172A"/>
                          </a:solidFill>
                        </a:defRPr>
                      </a:pPr>
                      <a:r>
                        <a:t>Automotive Intelligence</a:t>
                      </a:r>
                    </a:p>
                  </a:txBody>
                  <a:tcPr>
                    <a:solidFill>
                      <a:srgbClr val="F1F5F9"/>
                    </a:solidFill>
                  </a:tcPr>
                </a:tc>
                <a:tc>
                  <a:txBody>
                    <a:bodyPr/>
                    <a:lstStyle/>
                    <a:p>
                      <a:pPr>
                        <a:defRPr sz="1100">
                          <a:solidFill>
                            <a:srgbClr val="0F172A"/>
                          </a:solidFill>
                        </a:defRPr>
                      </a:pPr>
                      <a:r>
                        <a:t>Cannot understand AUTOSAR ports, interfaces, or ASIL levels.</a:t>
                      </a:r>
                    </a:p>
                  </a:txBody>
                  <a:tcPr>
                    <a:solidFill>
                      <a:srgbClr val="F1F5F9"/>
                    </a:solidFill>
                  </a:tcPr>
                </a:tc>
                <a:tc>
                  <a:txBody>
                    <a:bodyPr/>
                    <a:lstStyle/>
                    <a:p>
                      <a:pPr>
                        <a:defRPr sz="1100" b="1">
                          <a:solidFill>
                            <a:srgbClr val="1E3A8A"/>
                          </a:solidFill>
                        </a:defRPr>
                      </a:pPr>
                      <a:r>
                        <a:t>Dedicated parsers for SWCs, P/R Ports, DTCs, and CAN frames.</a:t>
                      </a:r>
                    </a:p>
                  </a:txBody>
                  <a:tcPr>
                    <a:solidFill>
                      <a:srgbClr val="F1F5F9"/>
                    </a:solidFill>
                  </a:tcPr>
                </a:tc>
              </a:tr>
              <a:tr h="731520">
                <a:tc>
                  <a:txBody>
                    <a:bodyPr/>
                    <a:lstStyle/>
                    <a:p>
                      <a:pPr>
                        <a:defRPr sz="1100">
                          <a:solidFill>
                            <a:srgbClr val="0F172A"/>
                          </a:solidFill>
                        </a:defRPr>
                      </a:pPr>
                      <a:r>
                        <a:t>Data Privacy &amp; Cost</a:t>
                      </a:r>
                    </a:p>
                  </a:txBody>
                  <a:tcPr>
                    <a:solidFill>
                      <a:srgbClr val="FFFFFF"/>
                    </a:solidFill>
                  </a:tcPr>
                </a:tc>
                <a:tc>
                  <a:txBody>
                    <a:bodyPr/>
                    <a:lstStyle/>
                    <a:p>
                      <a:pPr>
                        <a:defRPr sz="1100">
                          <a:solidFill>
                            <a:srgbClr val="0F172A"/>
                          </a:solidFill>
                        </a:defRPr>
                      </a:pPr>
                      <a:r>
                        <a:t>Sends proprietary data to cloud APIs; recurring API fees.</a:t>
                      </a:r>
                    </a:p>
                  </a:txBody>
                  <a:tcPr>
                    <a:solidFill>
                      <a:srgbClr val="FFFFFF"/>
                    </a:solidFill>
                  </a:tcPr>
                </a:tc>
                <a:tc>
                  <a:txBody>
                    <a:bodyPr/>
                    <a:lstStyle/>
                    <a:p>
                      <a:pPr>
                        <a:defRPr sz="1100" b="1">
                          <a:solidFill>
                            <a:srgbClr val="1E3A8A"/>
                          </a:solidFill>
                        </a:defRPr>
                      </a:pPr>
                      <a:r>
                        <a:t>100% on-premises; runs locally with zero external data transfer.</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TECHNICAL FOUNDATION</a:t>
            </a:r>
          </a:p>
          <a:p>
            <a:pPr>
              <a:defRPr sz="2400" b="1">
                <a:solidFill>
                  <a:srgbClr val="1E3A8A"/>
                </a:solidFill>
              </a:defRPr>
            </a:pPr>
            <a:r>
              <a:t>Technology Stack &amp; Tool Rationale</a:t>
            </a:r>
          </a:p>
        </p:txBody>
      </p:sp>
      <p:sp>
        <p:nvSpPr>
          <p:cNvPr id="3" name="Rounded Rectangle 2"/>
          <p:cNvSpPr/>
          <p:nvPr/>
        </p:nvSpPr>
        <p:spPr>
          <a:xfrm>
            <a:off x="731520" y="1645920"/>
            <a:ext cx="3383280" cy="2103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3017520" cy="411480"/>
          </a:xfrm>
          <a:prstGeom prst="rect">
            <a:avLst/>
          </a:prstGeom>
          <a:noFill/>
        </p:spPr>
        <p:txBody>
          <a:bodyPr wrap="square">
            <a:spAutoFit/>
          </a:bodyPr>
          <a:lstStyle/>
          <a:p>
            <a:pPr>
              <a:defRPr sz="1500" b="1">
                <a:solidFill>
                  <a:srgbClr val="1E3A8A"/>
                </a:solidFill>
              </a:defRPr>
            </a:pPr>
            <a:r>
              <a:t>Frontend Dashboard</a:t>
            </a:r>
          </a:p>
        </p:txBody>
      </p:sp>
      <p:sp>
        <p:nvSpPr>
          <p:cNvPr id="5" name="TextBox 4"/>
          <p:cNvSpPr txBox="1"/>
          <p:nvPr/>
        </p:nvSpPr>
        <p:spPr>
          <a:xfrm>
            <a:off x="914400" y="2240280"/>
            <a:ext cx="3017520" cy="1371600"/>
          </a:xfrm>
          <a:prstGeom prst="rect">
            <a:avLst/>
          </a:prstGeom>
          <a:noFill/>
        </p:spPr>
        <p:txBody>
          <a:bodyPr wrap="square">
            <a:spAutoFit/>
          </a:bodyPr>
          <a:lstStyle/>
          <a:p>
            <a:pPr>
              <a:defRPr sz="1600" b="1">
                <a:solidFill>
                  <a:srgbClr val="2563EB"/>
                </a:solidFill>
              </a:defRPr>
            </a:pPr>
            <a:r>
              <a:t>Streamlit</a:t>
            </a:r>
          </a:p>
          <a:p>
            <a:pPr>
              <a:defRPr sz="1100">
                <a:solidFill>
                  <a:srgbClr val="0F172A"/>
                </a:solidFill>
              </a:defRPr>
            </a:pPr>
            <a:r>
              <a:t>Provides a responsive, clean automotive engineering web dashboard with 8 dedicated tabs.</a:t>
            </a:r>
          </a:p>
        </p:txBody>
      </p:sp>
      <p:sp>
        <p:nvSpPr>
          <p:cNvPr id="6" name="Rounded Rectangle 5"/>
          <p:cNvSpPr/>
          <p:nvPr/>
        </p:nvSpPr>
        <p:spPr>
          <a:xfrm>
            <a:off x="4389120" y="1645920"/>
            <a:ext cx="3383280" cy="2103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55648"/>
            <a:ext cx="3017520" cy="411480"/>
          </a:xfrm>
          <a:prstGeom prst="rect">
            <a:avLst/>
          </a:prstGeom>
          <a:noFill/>
        </p:spPr>
        <p:txBody>
          <a:bodyPr wrap="square">
            <a:spAutoFit/>
          </a:bodyPr>
          <a:lstStyle/>
          <a:p>
            <a:pPr>
              <a:defRPr sz="1500" b="1">
                <a:solidFill>
                  <a:srgbClr val="1E3A8A"/>
                </a:solidFill>
              </a:defRPr>
            </a:pPr>
            <a:r>
              <a:t>REST API Backend</a:t>
            </a:r>
          </a:p>
        </p:txBody>
      </p:sp>
      <p:sp>
        <p:nvSpPr>
          <p:cNvPr id="8" name="TextBox 7"/>
          <p:cNvSpPr txBox="1"/>
          <p:nvPr/>
        </p:nvSpPr>
        <p:spPr>
          <a:xfrm>
            <a:off x="4572000" y="2240280"/>
            <a:ext cx="3017520" cy="1371600"/>
          </a:xfrm>
          <a:prstGeom prst="rect">
            <a:avLst/>
          </a:prstGeom>
          <a:noFill/>
        </p:spPr>
        <p:txBody>
          <a:bodyPr wrap="square">
            <a:spAutoFit/>
          </a:bodyPr>
          <a:lstStyle/>
          <a:p>
            <a:pPr>
              <a:defRPr sz="1600" b="1">
                <a:solidFill>
                  <a:srgbClr val="2563EB"/>
                </a:solidFill>
              </a:defRPr>
            </a:pPr>
            <a:r>
              <a:t>FastAPI</a:t>
            </a:r>
          </a:p>
          <a:p>
            <a:pPr>
              <a:defRPr sz="1100">
                <a:solidFill>
                  <a:srgbClr val="0F172A"/>
                </a:solidFill>
              </a:defRPr>
            </a:pPr>
            <a:r>
              <a:t>High-performance Python API with automatic OpenAPI Swagger documentation at /docs.</a:t>
            </a:r>
          </a:p>
        </p:txBody>
      </p:sp>
      <p:sp>
        <p:nvSpPr>
          <p:cNvPr id="9" name="Rounded Rectangle 8"/>
          <p:cNvSpPr/>
          <p:nvPr/>
        </p:nvSpPr>
        <p:spPr>
          <a:xfrm>
            <a:off x="8046720" y="1645920"/>
            <a:ext cx="3383280" cy="2103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55648"/>
            <a:ext cx="3017520" cy="411480"/>
          </a:xfrm>
          <a:prstGeom prst="rect">
            <a:avLst/>
          </a:prstGeom>
          <a:noFill/>
        </p:spPr>
        <p:txBody>
          <a:bodyPr wrap="square">
            <a:spAutoFit/>
          </a:bodyPr>
          <a:lstStyle/>
          <a:p>
            <a:pPr>
              <a:defRPr sz="1500" b="1">
                <a:solidFill>
                  <a:srgbClr val="1E3A8A"/>
                </a:solidFill>
              </a:defRPr>
            </a:pPr>
            <a:r>
              <a:t>PDF Text Engine</a:t>
            </a:r>
          </a:p>
        </p:txBody>
      </p:sp>
      <p:sp>
        <p:nvSpPr>
          <p:cNvPr id="11" name="TextBox 10"/>
          <p:cNvSpPr txBox="1"/>
          <p:nvPr/>
        </p:nvSpPr>
        <p:spPr>
          <a:xfrm>
            <a:off x="8229600" y="2240280"/>
            <a:ext cx="3017520" cy="1371600"/>
          </a:xfrm>
          <a:prstGeom prst="rect">
            <a:avLst/>
          </a:prstGeom>
          <a:noFill/>
        </p:spPr>
        <p:txBody>
          <a:bodyPr wrap="square">
            <a:spAutoFit/>
          </a:bodyPr>
          <a:lstStyle/>
          <a:p>
            <a:pPr>
              <a:defRPr sz="1600" b="1">
                <a:solidFill>
                  <a:srgbClr val="2563EB"/>
                </a:solidFill>
              </a:defRPr>
            </a:pPr>
            <a:r>
              <a:t>PyMuPDF (fitz)</a:t>
            </a:r>
          </a:p>
          <a:p>
            <a:pPr>
              <a:defRPr sz="1100">
                <a:solidFill>
                  <a:srgbClr val="0F172A"/>
                </a:solidFill>
              </a:defRPr>
            </a:pPr>
            <a:r>
              <a:t>Fast, memory-efficient PDF extraction that preserves original 1-indexed page numbers.</a:t>
            </a:r>
          </a:p>
        </p:txBody>
      </p:sp>
      <p:sp>
        <p:nvSpPr>
          <p:cNvPr id="12" name="Rounded Rectangle 11"/>
          <p:cNvSpPr/>
          <p:nvPr/>
        </p:nvSpPr>
        <p:spPr>
          <a:xfrm>
            <a:off x="731520" y="3931920"/>
            <a:ext cx="3383280" cy="2103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41648"/>
            <a:ext cx="3017520" cy="411480"/>
          </a:xfrm>
          <a:prstGeom prst="rect">
            <a:avLst/>
          </a:prstGeom>
          <a:noFill/>
        </p:spPr>
        <p:txBody>
          <a:bodyPr wrap="square">
            <a:spAutoFit/>
          </a:bodyPr>
          <a:lstStyle/>
          <a:p>
            <a:pPr>
              <a:defRPr sz="1500" b="1">
                <a:solidFill>
                  <a:srgbClr val="1E3A8A"/>
                </a:solidFill>
              </a:defRPr>
            </a:pPr>
            <a:r>
              <a:t>Local Vector Embeddings</a:t>
            </a:r>
          </a:p>
        </p:txBody>
      </p:sp>
      <p:sp>
        <p:nvSpPr>
          <p:cNvPr id="14" name="TextBox 13"/>
          <p:cNvSpPr txBox="1"/>
          <p:nvPr/>
        </p:nvSpPr>
        <p:spPr>
          <a:xfrm>
            <a:off x="914400" y="4526280"/>
            <a:ext cx="3017520" cy="1371600"/>
          </a:xfrm>
          <a:prstGeom prst="rect">
            <a:avLst/>
          </a:prstGeom>
          <a:noFill/>
        </p:spPr>
        <p:txBody>
          <a:bodyPr wrap="square">
            <a:spAutoFit/>
          </a:bodyPr>
          <a:lstStyle/>
          <a:p>
            <a:pPr>
              <a:defRPr sz="1600" b="1">
                <a:solidFill>
                  <a:srgbClr val="2563EB"/>
                </a:solidFill>
              </a:defRPr>
            </a:pPr>
            <a:r>
              <a:t>Sentence Transformers</a:t>
            </a:r>
          </a:p>
          <a:p>
            <a:pPr>
              <a:defRPr sz="1100">
                <a:solidFill>
                  <a:srgbClr val="0F172A"/>
                </a:solidFill>
              </a:defRPr>
            </a:pPr>
            <a:r>
              <a:t>Uses all-MiniLM-L6-v2 to compute 384-dimensional dense vectors locally on standard CPU.</a:t>
            </a:r>
          </a:p>
        </p:txBody>
      </p:sp>
      <p:sp>
        <p:nvSpPr>
          <p:cNvPr id="15" name="Rounded Rectangle 14"/>
          <p:cNvSpPr/>
          <p:nvPr/>
        </p:nvSpPr>
        <p:spPr>
          <a:xfrm>
            <a:off x="4389120" y="3931920"/>
            <a:ext cx="3383280" cy="2103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041648"/>
            <a:ext cx="3017520" cy="411480"/>
          </a:xfrm>
          <a:prstGeom prst="rect">
            <a:avLst/>
          </a:prstGeom>
          <a:noFill/>
        </p:spPr>
        <p:txBody>
          <a:bodyPr wrap="square">
            <a:spAutoFit/>
          </a:bodyPr>
          <a:lstStyle/>
          <a:p>
            <a:pPr>
              <a:defRPr sz="1500" b="1">
                <a:solidFill>
                  <a:srgbClr val="1E3A8A"/>
                </a:solidFill>
              </a:defRPr>
            </a:pPr>
            <a:r>
              <a:t>Vector Database</a:t>
            </a:r>
          </a:p>
        </p:txBody>
      </p:sp>
      <p:sp>
        <p:nvSpPr>
          <p:cNvPr id="17" name="TextBox 16"/>
          <p:cNvSpPr txBox="1"/>
          <p:nvPr/>
        </p:nvSpPr>
        <p:spPr>
          <a:xfrm>
            <a:off x="4572000" y="4526280"/>
            <a:ext cx="3017520" cy="1371600"/>
          </a:xfrm>
          <a:prstGeom prst="rect">
            <a:avLst/>
          </a:prstGeom>
          <a:noFill/>
        </p:spPr>
        <p:txBody>
          <a:bodyPr wrap="square">
            <a:spAutoFit/>
          </a:bodyPr>
          <a:lstStyle/>
          <a:p>
            <a:pPr>
              <a:defRPr sz="1600" b="1">
                <a:solidFill>
                  <a:srgbClr val="2563EB"/>
                </a:solidFill>
              </a:defRPr>
            </a:pPr>
            <a:r>
              <a:t>ChromaDB</a:t>
            </a:r>
          </a:p>
          <a:p>
            <a:pPr>
              <a:defRPr sz="1100">
                <a:solidFill>
                  <a:srgbClr val="0F172A"/>
                </a:solidFill>
              </a:defRPr>
            </a:pPr>
            <a:r>
              <a:t>Persistent local HNSW vector store for semantic similarity search with document filtering.</a:t>
            </a:r>
          </a:p>
        </p:txBody>
      </p:sp>
      <p:sp>
        <p:nvSpPr>
          <p:cNvPr id="18" name="Rounded Rectangle 17"/>
          <p:cNvSpPr/>
          <p:nvPr/>
        </p:nvSpPr>
        <p:spPr>
          <a:xfrm>
            <a:off x="8046720" y="3931920"/>
            <a:ext cx="3383280" cy="21031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4041648"/>
            <a:ext cx="3017520" cy="411480"/>
          </a:xfrm>
          <a:prstGeom prst="rect">
            <a:avLst/>
          </a:prstGeom>
          <a:noFill/>
        </p:spPr>
        <p:txBody>
          <a:bodyPr wrap="square">
            <a:spAutoFit/>
          </a:bodyPr>
          <a:lstStyle/>
          <a:p>
            <a:pPr>
              <a:defRPr sz="1500" b="1">
                <a:solidFill>
                  <a:srgbClr val="1E3A8A"/>
                </a:solidFill>
              </a:defRPr>
            </a:pPr>
            <a:r>
              <a:t>Relational Store &amp; Audit</a:t>
            </a:r>
          </a:p>
        </p:txBody>
      </p:sp>
      <p:sp>
        <p:nvSpPr>
          <p:cNvPr id="20" name="TextBox 19"/>
          <p:cNvSpPr txBox="1"/>
          <p:nvPr/>
        </p:nvSpPr>
        <p:spPr>
          <a:xfrm>
            <a:off x="8229600" y="4526280"/>
            <a:ext cx="3017520" cy="1371600"/>
          </a:xfrm>
          <a:prstGeom prst="rect">
            <a:avLst/>
          </a:prstGeom>
          <a:noFill/>
        </p:spPr>
        <p:txBody>
          <a:bodyPr wrap="square">
            <a:spAutoFit/>
          </a:bodyPr>
          <a:lstStyle/>
          <a:p>
            <a:pPr>
              <a:defRPr sz="1600" b="1">
                <a:solidFill>
                  <a:srgbClr val="2563EB"/>
                </a:solidFill>
              </a:defRPr>
            </a:pPr>
            <a:r>
              <a:t>SQLite &amp; SQLAlchemy</a:t>
            </a:r>
          </a:p>
          <a:p>
            <a:pPr>
              <a:defRPr sz="1100">
                <a:solidFill>
                  <a:srgbClr val="0F172A"/>
                </a:solidFill>
              </a:defRPr>
            </a:pPr>
            <a:r>
              <a:t>Tracks document metadata, SHA-256 file hashes, chunk records, and audit logs.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ARCHITECTURE DIAGRAM</a:t>
            </a:r>
          </a:p>
          <a:p>
            <a:pPr>
              <a:defRPr sz="2400" b="1">
                <a:solidFill>
                  <a:srgbClr val="1E3A8A"/>
                </a:solidFill>
              </a:defRPr>
            </a:pPr>
            <a:r>
              <a:t>System Architecture &amp; End-to-End Workflow</a:t>
            </a:r>
          </a:p>
        </p:txBody>
      </p:sp>
      <p:pic>
        <p:nvPicPr>
          <p:cNvPr id="3" name="Picture 2" descr="system_architecture_diagram.png"/>
          <p:cNvPicPr>
            <a:picLocks noChangeAspect="1"/>
          </p:cNvPicPr>
          <p:nvPr/>
        </p:nvPicPr>
        <p:blipFill>
          <a:blip r:embed="rId2"/>
          <a:stretch>
            <a:fillRect/>
          </a:stretch>
        </p:blipFill>
        <p:spPr>
          <a:xfrm>
            <a:off x="731520" y="1645920"/>
            <a:ext cx="10698480" cy="46634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EXECUTION FLOW</a:t>
            </a:r>
          </a:p>
          <a:p>
            <a:pPr>
              <a:defRPr sz="2400" b="1">
                <a:solidFill>
                  <a:srgbClr val="1E3A8A"/>
                </a:solidFill>
              </a:defRPr>
            </a:pPr>
            <a:r>
              <a:t>Step-by-Step Working Process</a:t>
            </a:r>
          </a:p>
        </p:txBody>
      </p:sp>
      <p:sp>
        <p:nvSpPr>
          <p:cNvPr id="3" name="Rounded Rectangle 2"/>
          <p:cNvSpPr/>
          <p:nvPr/>
        </p:nvSpPr>
        <p:spPr>
          <a:xfrm>
            <a:off x="731520" y="164592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4846320" cy="1097280"/>
          </a:xfrm>
          <a:prstGeom prst="rect">
            <a:avLst/>
          </a:prstGeom>
          <a:noFill/>
        </p:spPr>
        <p:txBody>
          <a:bodyPr wrap="square">
            <a:spAutoFit/>
          </a:bodyPr>
          <a:lstStyle/>
          <a:p>
            <a:pPr>
              <a:defRPr sz="1300" b="1">
                <a:solidFill>
                  <a:srgbClr val="1E3A8A"/>
                </a:solidFill>
              </a:defRPr>
            </a:pPr>
            <a:r>
              <a:t>Step 1: Upload &amp; Validate</a:t>
            </a:r>
          </a:p>
          <a:p>
            <a:pPr>
              <a:defRPr sz="1100">
                <a:solidFill>
                  <a:srgbClr val="0F172A"/>
                </a:solidFill>
              </a:defRPr>
            </a:pPr>
            <a:r>
              <a:t>The engineer uploads an AUTOSAR HLD PDF. The system checks file size, verifies %PDF- magic headers, and calculates a SHA-256 hash to detect duplicates.</a:t>
            </a:r>
          </a:p>
        </p:txBody>
      </p:sp>
      <p:sp>
        <p:nvSpPr>
          <p:cNvPr id="5" name="Rounded Rectangle 4"/>
          <p:cNvSpPr/>
          <p:nvPr/>
        </p:nvSpPr>
        <p:spPr>
          <a:xfrm>
            <a:off x="6126480" y="164592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55648"/>
            <a:ext cx="4846320" cy="1097280"/>
          </a:xfrm>
          <a:prstGeom prst="rect">
            <a:avLst/>
          </a:prstGeom>
          <a:noFill/>
        </p:spPr>
        <p:txBody>
          <a:bodyPr wrap="square">
            <a:spAutoFit/>
          </a:bodyPr>
          <a:lstStyle/>
          <a:p>
            <a:pPr>
              <a:defRPr sz="1300" b="1">
                <a:solidFill>
                  <a:srgbClr val="1E3A8A"/>
                </a:solidFill>
              </a:defRPr>
            </a:pPr>
            <a:r>
              <a:t>Step 2: Page-by-Page Extraction</a:t>
            </a:r>
          </a:p>
          <a:p>
            <a:pPr>
              <a:defRPr sz="1100">
                <a:solidFill>
                  <a:srgbClr val="0F172A"/>
                </a:solidFill>
              </a:defRPr>
            </a:pPr>
            <a:r>
              <a:t>PyMuPDF extracts text page by page, preserving original page numbers. It checks for image-only pages and triggers an OCR warning (⚠️ Scanned) if text is missing.</a:t>
            </a:r>
          </a:p>
        </p:txBody>
      </p:sp>
      <p:sp>
        <p:nvSpPr>
          <p:cNvPr id="7" name="Rounded Rectangle 6"/>
          <p:cNvSpPr/>
          <p:nvPr/>
        </p:nvSpPr>
        <p:spPr>
          <a:xfrm>
            <a:off x="731520" y="315468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64408"/>
            <a:ext cx="4846320" cy="1097280"/>
          </a:xfrm>
          <a:prstGeom prst="rect">
            <a:avLst/>
          </a:prstGeom>
          <a:noFill/>
        </p:spPr>
        <p:txBody>
          <a:bodyPr wrap="square">
            <a:spAutoFit/>
          </a:bodyPr>
          <a:lstStyle/>
          <a:p>
            <a:pPr>
              <a:defRPr sz="1300" b="1">
                <a:solidFill>
                  <a:srgbClr val="1E3A8A"/>
                </a:solidFill>
              </a:defRPr>
            </a:pPr>
            <a:r>
              <a:t>Step 3: Chunking &amp; Embeddings</a:t>
            </a:r>
          </a:p>
          <a:p>
            <a:pPr>
              <a:defRPr sz="1100">
                <a:solidFill>
                  <a:srgbClr val="0F172A"/>
                </a:solidFill>
              </a:defRPr>
            </a:pPr>
            <a:r>
              <a:t>The chunker splits text into overlapping windows without breaking technical terms (e.g., Rte_Write_, 0x1A4). Sentence Transformers converts them to 384-d vectors.</a:t>
            </a:r>
          </a:p>
        </p:txBody>
      </p:sp>
      <p:sp>
        <p:nvSpPr>
          <p:cNvPr id="9" name="Rounded Rectangle 8"/>
          <p:cNvSpPr/>
          <p:nvPr/>
        </p:nvSpPr>
        <p:spPr>
          <a:xfrm>
            <a:off x="6126480" y="315468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3264408"/>
            <a:ext cx="4846320" cy="1097280"/>
          </a:xfrm>
          <a:prstGeom prst="rect">
            <a:avLst/>
          </a:prstGeom>
          <a:noFill/>
        </p:spPr>
        <p:txBody>
          <a:bodyPr wrap="square">
            <a:spAutoFit/>
          </a:bodyPr>
          <a:lstStyle/>
          <a:p>
            <a:pPr>
              <a:defRPr sz="1300" b="1">
                <a:solidFill>
                  <a:srgbClr val="1E3A8A"/>
                </a:solidFill>
              </a:defRPr>
            </a:pPr>
            <a:r>
              <a:t>Step 4: Vector Indexing</a:t>
            </a:r>
          </a:p>
          <a:p>
            <a:pPr>
              <a:defRPr sz="1100">
                <a:solidFill>
                  <a:srgbClr val="0F172A"/>
                </a:solidFill>
              </a:defRPr>
            </a:pPr>
            <a:r>
              <a:t>Embeddings and page metadata are stored in persistent ChromaDB. If re-indexed, previous chunks are cleanly purged to prevent duplicate entries.</a:t>
            </a:r>
          </a:p>
        </p:txBody>
      </p:sp>
      <p:sp>
        <p:nvSpPr>
          <p:cNvPr id="11" name="Rounded Rectangle 10"/>
          <p:cNvSpPr/>
          <p:nvPr/>
        </p:nvSpPr>
        <p:spPr>
          <a:xfrm>
            <a:off x="731520" y="466344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73168"/>
            <a:ext cx="4846320" cy="1097280"/>
          </a:xfrm>
          <a:prstGeom prst="rect">
            <a:avLst/>
          </a:prstGeom>
          <a:noFill/>
        </p:spPr>
        <p:txBody>
          <a:bodyPr wrap="square">
            <a:spAutoFit/>
          </a:bodyPr>
          <a:lstStyle/>
          <a:p>
            <a:pPr>
              <a:defRPr sz="1300" b="1">
                <a:solidFill>
                  <a:srgbClr val="1E3A8A"/>
                </a:solidFill>
              </a:defRPr>
            </a:pPr>
            <a:r>
              <a:t>Step 5: Question &amp; Retrieval</a:t>
            </a:r>
          </a:p>
          <a:p>
            <a:pPr>
              <a:defRPr sz="1100">
                <a:solidFill>
                  <a:srgbClr val="0F172A"/>
                </a:solidFill>
              </a:defRPr>
            </a:pPr>
            <a:r>
              <a:t>When a question is entered, the retriever computes cosine similarity and fetches the top-k most relevant evidence passages.</a:t>
            </a:r>
          </a:p>
        </p:txBody>
      </p:sp>
      <p:sp>
        <p:nvSpPr>
          <p:cNvPr id="13" name="Rounded Rectangle 12"/>
          <p:cNvSpPr/>
          <p:nvPr/>
        </p:nvSpPr>
        <p:spPr>
          <a:xfrm>
            <a:off x="6126480" y="466344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773168"/>
            <a:ext cx="4846320" cy="1097280"/>
          </a:xfrm>
          <a:prstGeom prst="rect">
            <a:avLst/>
          </a:prstGeom>
          <a:noFill/>
        </p:spPr>
        <p:txBody>
          <a:bodyPr wrap="square">
            <a:spAutoFit/>
          </a:bodyPr>
          <a:lstStyle/>
          <a:p>
            <a:pPr>
              <a:defRPr sz="1300" b="1">
                <a:solidFill>
                  <a:srgbClr val="1E3A8A"/>
                </a:solidFill>
              </a:defRPr>
            </a:pPr>
            <a:r>
              <a:t>Step 6: Cited Output</a:t>
            </a:r>
          </a:p>
          <a:p>
            <a:pPr>
              <a:defRPr sz="1100">
                <a:solidFill>
                  <a:srgbClr val="0F172A"/>
                </a:solidFill>
              </a:defRPr>
            </a:pPr>
            <a:r>
              <a:t>The system formats the response with exact document and page citations (e.g. Page 47), displaying inspectable evidence snippets.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MODULE SHOWCASE</a:t>
            </a:r>
          </a:p>
          <a:p>
            <a:pPr>
              <a:defRPr sz="2400" b="1">
                <a:solidFill>
                  <a:srgbClr val="1E3A8A"/>
                </a:solidFill>
              </a:defRPr>
            </a:pPr>
            <a:r>
              <a:t>Main Features &amp; Application Interface</a:t>
            </a:r>
          </a:p>
        </p:txBody>
      </p:sp>
      <p:sp>
        <p:nvSpPr>
          <p:cNvPr id="3" name="Rounded Rectangle 2"/>
          <p:cNvSpPr/>
          <p:nvPr/>
        </p:nvSpPr>
        <p:spPr>
          <a:xfrm>
            <a:off x="731520" y="1645920"/>
            <a:ext cx="47548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4389120" cy="411480"/>
          </a:xfrm>
          <a:prstGeom prst="rect">
            <a:avLst/>
          </a:prstGeom>
          <a:noFill/>
        </p:spPr>
        <p:txBody>
          <a:bodyPr wrap="square">
            <a:spAutoFit/>
          </a:bodyPr>
          <a:lstStyle/>
          <a:p>
            <a:pPr>
              <a:defRPr sz="1500" b="1">
                <a:solidFill>
                  <a:srgbClr val="1E3A8A"/>
                </a:solidFill>
              </a:defRPr>
            </a:pPr>
            <a:r>
              <a:t>Key Application Modules</a:t>
            </a:r>
          </a:p>
        </p:txBody>
      </p:sp>
      <p:sp>
        <p:nvSpPr>
          <p:cNvPr id="5" name="TextBox 4"/>
          <p:cNvSpPr txBox="1"/>
          <p:nvPr/>
        </p:nvSpPr>
        <p:spPr>
          <a:xfrm>
            <a:off x="914400" y="2194560"/>
            <a:ext cx="4389120" cy="3840480"/>
          </a:xfrm>
          <a:prstGeom prst="rect">
            <a:avLst/>
          </a:prstGeom>
          <a:noFill/>
        </p:spPr>
        <p:txBody>
          <a:bodyPr wrap="square">
            <a:spAutoFit/>
          </a:bodyPr>
          <a:lstStyle/>
          <a:p>
            <a:pPr>
              <a:spcAft>
                <a:spcPts val="600"/>
              </a:spcAft>
              <a:defRPr sz="1150">
                <a:solidFill>
                  <a:srgbClr val="0F172A"/>
                </a:solidFill>
              </a:defRPr>
            </a:pPr>
            <a:r>
              <a:t>1. Document Library: Upload, quick-load, and inspect page counts.</a:t>
            </a:r>
          </a:p>
          <a:p>
            <a:pPr>
              <a:spcAft>
                <a:spcPts val="600"/>
              </a:spcAft>
              <a:defRPr sz="1150">
                <a:solidFill>
                  <a:srgbClr val="0F172A"/>
                </a:solidFill>
              </a:defRPr>
            </a:pPr>
            <a:r>
              <a:t>2. Grounded Q&amp;A Assistant: Ask questions and view page citations.</a:t>
            </a:r>
          </a:p>
          <a:p>
            <a:pPr>
              <a:spcAft>
                <a:spcPts val="600"/>
              </a:spcAft>
              <a:defRPr sz="1150">
                <a:solidFill>
                  <a:srgbClr val="0F172A"/>
                </a:solidFill>
              </a:defRPr>
            </a:pPr>
            <a:r>
              <a:t>3. Technical Term Search: Find exact APIs (Rte_), CAN IDs, and DTCs.</a:t>
            </a:r>
          </a:p>
          <a:p>
            <a:pPr>
              <a:spcAft>
                <a:spcPts val="600"/>
              </a:spcAft>
              <a:defRPr sz="1150">
                <a:solidFill>
                  <a:srgbClr val="0F172A"/>
                </a:solidFill>
              </a:defRPr>
            </a:pPr>
            <a:r>
              <a:t>4. Architectural Summary: Executive summary and domain topics.</a:t>
            </a:r>
          </a:p>
          <a:p>
            <a:pPr>
              <a:spcAft>
                <a:spcPts val="600"/>
              </a:spcAft>
              <a:defRPr sz="1150">
                <a:solidFill>
                  <a:srgbClr val="0F172A"/>
                </a:solidFill>
              </a:defRPr>
            </a:pPr>
            <a:r>
              <a:t>5. SWC &amp; Port Extractor: Identifies P-Ports, R-Ports, and ASIL levels.</a:t>
            </a:r>
          </a:p>
          <a:p>
            <a:pPr>
              <a:spcAft>
                <a:spcPts val="600"/>
              </a:spcAft>
              <a:defRPr sz="1150">
                <a:solidFill>
                  <a:srgbClr val="0F172A"/>
                </a:solidFill>
              </a:defRPr>
            </a:pPr>
            <a:r>
              <a:t>6. Inconsistency Detector: Finds unmapped ports and timing mismatches.</a:t>
            </a:r>
          </a:p>
          <a:p>
            <a:pPr>
              <a:spcAft>
                <a:spcPts val="600"/>
              </a:spcAft>
              <a:defRPr sz="1150">
                <a:solidFill>
                  <a:srgbClr val="0F172A"/>
                </a:solidFill>
              </a:defRPr>
            </a:pPr>
            <a:r>
              <a:t>7. Revision Comparator: Compares v1.0 vs v2.0 architectural changes.</a:t>
            </a:r>
          </a:p>
          <a:p>
            <a:pPr>
              <a:spcAft>
                <a:spcPts val="600"/>
              </a:spcAft>
              <a:defRPr sz="1150">
                <a:solidFill>
                  <a:srgbClr val="0F172A"/>
                </a:solidFill>
              </a:defRPr>
            </a:pPr>
            <a:r>
              <a:t>8. Export Center: One-click export to CSV, JSON, and Markdown.</a:t>
            </a:r>
          </a:p>
        </p:txBody>
      </p:sp>
      <p:sp>
        <p:nvSpPr>
          <p:cNvPr id="6" name="Rounded Rectangle 5"/>
          <p:cNvSpPr/>
          <p:nvPr/>
        </p:nvSpPr>
        <p:spPr>
          <a:xfrm>
            <a:off x="5760720" y="1645920"/>
            <a:ext cx="5699455"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0" y="1755648"/>
            <a:ext cx="5333695" cy="411480"/>
          </a:xfrm>
          <a:prstGeom prst="rect">
            <a:avLst/>
          </a:prstGeom>
          <a:noFill/>
        </p:spPr>
        <p:txBody>
          <a:bodyPr wrap="square">
            <a:spAutoFit/>
          </a:bodyPr>
          <a:lstStyle/>
          <a:p>
            <a:pPr>
              <a:defRPr sz="1500" b="1">
                <a:solidFill>
                  <a:srgbClr val="1E3A8A"/>
                </a:solidFill>
              </a:defRPr>
            </a:pPr>
            <a:r>
              <a:t>Live Streamlit User Interface</a:t>
            </a:r>
          </a:p>
        </p:txBody>
      </p:sp>
      <p:pic>
        <p:nvPicPr>
          <p:cNvPr id="8" name="Picture 7" descr="streamlit_screenshot.png"/>
          <p:cNvPicPr>
            <a:picLocks noChangeAspect="1"/>
          </p:cNvPicPr>
          <p:nvPr/>
        </p:nvPicPr>
        <p:blipFill>
          <a:blip r:embed="rId2"/>
          <a:stretch>
            <a:fillRect/>
          </a:stretch>
        </p:blipFill>
        <p:spPr>
          <a:xfrm>
            <a:off x="5943600" y="2194560"/>
            <a:ext cx="5333695" cy="239599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CORE BENEFITS</a:t>
            </a:r>
          </a:p>
          <a:p>
            <a:pPr>
              <a:defRPr sz="2400" b="1">
                <a:solidFill>
                  <a:srgbClr val="1E3A8A"/>
                </a:solidFill>
              </a:defRPr>
            </a:pPr>
            <a:r>
              <a:t>Key Advantages of the Proposed System</a:t>
            </a:r>
          </a:p>
        </p:txBody>
      </p:sp>
      <p:sp>
        <p:nvSpPr>
          <p:cNvPr id="3" name="Rounded Rectangle 2"/>
          <p:cNvSpPr/>
          <p:nvPr/>
        </p:nvSpPr>
        <p:spPr>
          <a:xfrm>
            <a:off x="731520" y="164592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4846320" cy="1097280"/>
          </a:xfrm>
          <a:prstGeom prst="rect">
            <a:avLst/>
          </a:prstGeom>
          <a:noFill/>
        </p:spPr>
        <p:txBody>
          <a:bodyPr wrap="square">
            <a:spAutoFit/>
          </a:bodyPr>
          <a:lstStyle/>
          <a:p>
            <a:pPr>
              <a:defRPr sz="1350" b="1">
                <a:solidFill>
                  <a:srgbClr val="10B981"/>
                </a:solidFill>
              </a:defRPr>
            </a:pPr>
            <a:r>
              <a:t>⭐ 100% Evidence Grounded</a:t>
            </a:r>
          </a:p>
          <a:p>
            <a:pPr>
              <a:defRPr sz="1100">
                <a:solidFill>
                  <a:srgbClr val="0F172A"/>
                </a:solidFill>
              </a:defRPr>
            </a:pPr>
            <a:r>
              <a:t>Eliminates AI hallucinations by restricting answers strictly to retrieved context. Every claim links to original document and page citations.</a:t>
            </a:r>
          </a:p>
        </p:txBody>
      </p:sp>
      <p:sp>
        <p:nvSpPr>
          <p:cNvPr id="5" name="Rounded Rectangle 4"/>
          <p:cNvSpPr/>
          <p:nvPr/>
        </p:nvSpPr>
        <p:spPr>
          <a:xfrm>
            <a:off x="6126480" y="164592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55648"/>
            <a:ext cx="4846320" cy="1097280"/>
          </a:xfrm>
          <a:prstGeom prst="rect">
            <a:avLst/>
          </a:prstGeom>
          <a:noFill/>
        </p:spPr>
        <p:txBody>
          <a:bodyPr wrap="square">
            <a:spAutoFit/>
          </a:bodyPr>
          <a:lstStyle/>
          <a:p>
            <a:pPr>
              <a:defRPr sz="1350" b="1">
                <a:solidFill>
                  <a:srgbClr val="10B981"/>
                </a:solidFill>
              </a:defRPr>
            </a:pPr>
            <a:r>
              <a:t>⭐ 100% Local &amp; Cost-Free</a:t>
            </a:r>
          </a:p>
          <a:p>
            <a:pPr>
              <a:defRPr sz="1100">
                <a:solidFill>
                  <a:srgbClr val="0F172A"/>
                </a:solidFill>
              </a:defRPr>
            </a:pPr>
            <a:r>
              <a:t>Runs completely on standard laptop hardware without requiring expensive GPUs, cloud servers, or recurring paid API subscriptions.</a:t>
            </a:r>
          </a:p>
        </p:txBody>
      </p:sp>
      <p:sp>
        <p:nvSpPr>
          <p:cNvPr id="7" name="Rounded Rectangle 6"/>
          <p:cNvSpPr/>
          <p:nvPr/>
        </p:nvSpPr>
        <p:spPr>
          <a:xfrm>
            <a:off x="731520" y="315468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64408"/>
            <a:ext cx="4846320" cy="1097280"/>
          </a:xfrm>
          <a:prstGeom prst="rect">
            <a:avLst/>
          </a:prstGeom>
          <a:noFill/>
        </p:spPr>
        <p:txBody>
          <a:bodyPr wrap="square">
            <a:spAutoFit/>
          </a:bodyPr>
          <a:lstStyle/>
          <a:p>
            <a:pPr>
              <a:defRPr sz="1350" b="1">
                <a:solidFill>
                  <a:srgbClr val="10B981"/>
                </a:solidFill>
              </a:defRPr>
            </a:pPr>
            <a:r>
              <a:t>⭐ Automotive IP Protection</a:t>
            </a:r>
          </a:p>
          <a:p>
            <a:pPr>
              <a:defRPr sz="1100">
                <a:solidFill>
                  <a:srgbClr val="0F172A"/>
                </a:solidFill>
              </a:defRPr>
            </a:pPr>
            <a:r>
              <a:t>Guarantees complete data privacy compliant with ISO 21434. Confidential vehicle designs and trade secrets never leave the local environment.</a:t>
            </a:r>
          </a:p>
        </p:txBody>
      </p:sp>
      <p:sp>
        <p:nvSpPr>
          <p:cNvPr id="9" name="Rounded Rectangle 8"/>
          <p:cNvSpPr/>
          <p:nvPr/>
        </p:nvSpPr>
        <p:spPr>
          <a:xfrm>
            <a:off x="6126480" y="315468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3264408"/>
            <a:ext cx="4846320" cy="1097280"/>
          </a:xfrm>
          <a:prstGeom prst="rect">
            <a:avLst/>
          </a:prstGeom>
          <a:noFill/>
        </p:spPr>
        <p:txBody>
          <a:bodyPr wrap="square">
            <a:spAutoFit/>
          </a:bodyPr>
          <a:lstStyle/>
          <a:p>
            <a:pPr>
              <a:defRPr sz="1350" b="1">
                <a:solidFill>
                  <a:srgbClr val="10B981"/>
                </a:solidFill>
              </a:defRPr>
            </a:pPr>
            <a:r>
              <a:t>⭐ Automated Entity Extraction</a:t>
            </a:r>
          </a:p>
          <a:p>
            <a:pPr>
              <a:defRPr sz="1100">
                <a:solidFill>
                  <a:srgbClr val="0F172A"/>
                </a:solidFill>
              </a:defRPr>
            </a:pPr>
            <a:r>
              <a:t>Extracts candidate AUTOSAR software components, provided/required ports, interfaces, and ASIL ratings in structured tables.</a:t>
            </a:r>
          </a:p>
        </p:txBody>
      </p:sp>
      <p:sp>
        <p:nvSpPr>
          <p:cNvPr id="11" name="Rounded Rectangle 10"/>
          <p:cNvSpPr/>
          <p:nvPr/>
        </p:nvSpPr>
        <p:spPr>
          <a:xfrm>
            <a:off x="731520" y="466344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73168"/>
            <a:ext cx="4846320" cy="1097280"/>
          </a:xfrm>
          <a:prstGeom prst="rect">
            <a:avLst/>
          </a:prstGeom>
          <a:noFill/>
        </p:spPr>
        <p:txBody>
          <a:bodyPr wrap="square">
            <a:spAutoFit/>
          </a:bodyPr>
          <a:lstStyle/>
          <a:p>
            <a:pPr>
              <a:defRPr sz="1350" b="1">
                <a:solidFill>
                  <a:srgbClr val="10B981"/>
                </a:solidFill>
              </a:defRPr>
            </a:pPr>
            <a:r>
              <a:t>⭐ Revision Delta Analysis</a:t>
            </a:r>
          </a:p>
          <a:p>
            <a:pPr>
              <a:defRPr sz="1100">
                <a:solidFill>
                  <a:srgbClr val="0F172A"/>
                </a:solidFill>
              </a:defRPr>
            </a:pPr>
            <a:r>
              <a:t>Instantly highlights differences between document versions (e.g. v1.0 vs v2.0), separating text changes from engineering impact.</a:t>
            </a:r>
          </a:p>
        </p:txBody>
      </p:sp>
      <p:sp>
        <p:nvSpPr>
          <p:cNvPr id="13" name="Rounded Rectangle 12"/>
          <p:cNvSpPr/>
          <p:nvPr/>
        </p:nvSpPr>
        <p:spPr>
          <a:xfrm>
            <a:off x="6126480" y="4663440"/>
            <a:ext cx="521208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773168"/>
            <a:ext cx="4846320" cy="1097280"/>
          </a:xfrm>
          <a:prstGeom prst="rect">
            <a:avLst/>
          </a:prstGeom>
          <a:noFill/>
        </p:spPr>
        <p:txBody>
          <a:bodyPr wrap="square">
            <a:spAutoFit/>
          </a:bodyPr>
          <a:lstStyle/>
          <a:p>
            <a:pPr>
              <a:defRPr sz="1350" b="1">
                <a:solidFill>
                  <a:srgbClr val="10B981"/>
                </a:solidFill>
              </a:defRPr>
            </a:pPr>
            <a:r>
              <a:t>⭐ Reliable Scanned PDF Detection</a:t>
            </a:r>
          </a:p>
          <a:p>
            <a:pPr>
              <a:defRPr sz="1100">
                <a:solidFill>
                  <a:srgbClr val="0F172A"/>
                </a:solidFill>
              </a:defRPr>
            </a:pPr>
            <a:r>
              <a:t>Automatically identifies image-only scanned PDFs and warns the engineer, preventing silent indexing failures.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TECHNICAL CHALLENGES</a:t>
            </a:r>
          </a:p>
          <a:p>
            <a:pPr>
              <a:defRPr sz="2400" b="1">
                <a:solidFill>
                  <a:srgbClr val="1E3A8A"/>
                </a:solidFill>
              </a:defRPr>
            </a:pPr>
            <a:r>
              <a:t>Problems &amp; Challenges Faced During Development</a:t>
            </a:r>
          </a:p>
        </p:txBody>
      </p:sp>
      <p:sp>
        <p:nvSpPr>
          <p:cNvPr id="3" name="Rounded Rectangle 2"/>
          <p:cNvSpPr/>
          <p:nvPr/>
        </p:nvSpPr>
        <p:spPr>
          <a:xfrm>
            <a:off x="731520" y="164592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32720" cy="685800"/>
          </a:xfrm>
          <a:prstGeom prst="rect">
            <a:avLst/>
          </a:prstGeom>
          <a:noFill/>
        </p:spPr>
        <p:txBody>
          <a:bodyPr wrap="square">
            <a:spAutoFit/>
          </a:bodyPr>
          <a:lstStyle/>
          <a:p>
            <a:pPr>
              <a:defRPr sz="1300" b="1">
                <a:solidFill>
                  <a:srgbClr val="DC2626"/>
                </a:solidFill>
              </a:defRPr>
            </a:pPr>
            <a:r>
              <a:t>⚠ 1. Image-Only Scanned PDFs</a:t>
            </a:r>
          </a:p>
          <a:p>
            <a:pPr>
              <a:defRPr sz="1100">
                <a:solidFill>
                  <a:srgbClr val="0F172A"/>
                </a:solidFill>
              </a:defRPr>
            </a:pPr>
            <a:r>
              <a:t>Some test PDFs contained bitmap scans without selectable text streams. Standard extractors returned 0 characters, silently creating empty vector embeddings.</a:t>
            </a:r>
          </a:p>
        </p:txBody>
      </p:sp>
      <p:sp>
        <p:nvSpPr>
          <p:cNvPr id="5" name="Rounded Rectangle 4"/>
          <p:cNvSpPr/>
          <p:nvPr/>
        </p:nvSpPr>
        <p:spPr>
          <a:xfrm>
            <a:off x="731520" y="260604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97480"/>
            <a:ext cx="10332720" cy="685800"/>
          </a:xfrm>
          <a:prstGeom prst="rect">
            <a:avLst/>
          </a:prstGeom>
          <a:noFill/>
        </p:spPr>
        <p:txBody>
          <a:bodyPr wrap="square">
            <a:spAutoFit/>
          </a:bodyPr>
          <a:lstStyle/>
          <a:p>
            <a:pPr>
              <a:defRPr sz="1300" b="1">
                <a:solidFill>
                  <a:srgbClr val="DC2626"/>
                </a:solidFill>
              </a:defRPr>
            </a:pPr>
            <a:r>
              <a:t>⚠ 2. PyMuPDF API Parameter Incompatibility</a:t>
            </a:r>
          </a:p>
          <a:p>
            <a:pPr>
              <a:defRPr sz="1100">
                <a:solidFill>
                  <a:srgbClr val="0F172A"/>
                </a:solidFill>
              </a:defRPr>
            </a:pPr>
            <a:r>
              <a:t>Recent PyMuPDF updates deprecated legacy fitz functions and threw TypeError on unsupported keyword arguments (e.g., leading=14) during PDF generation.</a:t>
            </a:r>
          </a:p>
        </p:txBody>
      </p:sp>
      <p:sp>
        <p:nvSpPr>
          <p:cNvPr id="7" name="Rounded Rectangle 6"/>
          <p:cNvSpPr/>
          <p:nvPr/>
        </p:nvSpPr>
        <p:spPr>
          <a:xfrm>
            <a:off x="731520" y="356616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657600"/>
            <a:ext cx="10332720" cy="685800"/>
          </a:xfrm>
          <a:prstGeom prst="rect">
            <a:avLst/>
          </a:prstGeom>
          <a:noFill/>
        </p:spPr>
        <p:txBody>
          <a:bodyPr wrap="square">
            <a:spAutoFit/>
          </a:bodyPr>
          <a:lstStyle/>
          <a:p>
            <a:pPr>
              <a:defRPr sz="1300" b="1">
                <a:solidFill>
                  <a:srgbClr val="DC2626"/>
                </a:solidFill>
              </a:defRPr>
            </a:pPr>
            <a:r>
              <a:t>⚠ 3. SQLite Table Initialization in Pytest</a:t>
            </a:r>
          </a:p>
          <a:p>
            <a:pPr>
              <a:defRPr sz="1100">
                <a:solidFill>
                  <a:srgbClr val="0F172A"/>
                </a:solidFill>
              </a:defRPr>
            </a:pPr>
            <a:r>
              <a:t>FastAPI TestClient initiated database queries before lifespan startup handlers executed, causing sqlite3.OperationalError: no such table: audit_logs.</a:t>
            </a:r>
          </a:p>
        </p:txBody>
      </p:sp>
      <p:sp>
        <p:nvSpPr>
          <p:cNvPr id="9" name="Rounded Rectangle 8"/>
          <p:cNvSpPr/>
          <p:nvPr/>
        </p:nvSpPr>
        <p:spPr>
          <a:xfrm>
            <a:off x="731520" y="452628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17720"/>
            <a:ext cx="10332720" cy="685800"/>
          </a:xfrm>
          <a:prstGeom prst="rect">
            <a:avLst/>
          </a:prstGeom>
          <a:noFill/>
        </p:spPr>
        <p:txBody>
          <a:bodyPr wrap="square">
            <a:spAutoFit/>
          </a:bodyPr>
          <a:lstStyle/>
          <a:p>
            <a:pPr>
              <a:defRPr sz="1300" b="1">
                <a:solidFill>
                  <a:srgbClr val="DC2626"/>
                </a:solidFill>
              </a:defRPr>
            </a:pPr>
            <a:r>
              <a:t>⚠ 4. Configuration Attribute Missing (STREAMLIT_PORT)</a:t>
            </a:r>
          </a:p>
          <a:p>
            <a:pPr>
              <a:defRPr sz="1100">
                <a:solidFill>
                  <a:srgbClr val="0F172A"/>
                </a:solidFill>
              </a:defRPr>
            </a:pPr>
            <a:r>
              <a:t>When launching the UI via python app.py --mode ui, a Pydantic AttributeError was raised due to an omitted STREAMLIT_PORT setting in core/config.py.</a:t>
            </a:r>
          </a:p>
        </p:txBody>
      </p:sp>
      <p:sp>
        <p:nvSpPr>
          <p:cNvPr id="11" name="Rounded Rectangle 10"/>
          <p:cNvSpPr/>
          <p:nvPr/>
        </p:nvSpPr>
        <p:spPr>
          <a:xfrm>
            <a:off x="731520" y="548640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332720" cy="685800"/>
          </a:xfrm>
          <a:prstGeom prst="rect">
            <a:avLst/>
          </a:prstGeom>
          <a:noFill/>
        </p:spPr>
        <p:txBody>
          <a:bodyPr wrap="square">
            <a:spAutoFit/>
          </a:bodyPr>
          <a:lstStyle/>
          <a:p>
            <a:pPr>
              <a:defRPr sz="1300" b="1">
                <a:solidFill>
                  <a:srgbClr val="DC2626"/>
                </a:solidFill>
              </a:defRPr>
            </a:pPr>
            <a:r>
              <a:t>⚠ 5. False Matches on Negative Queries</a:t>
            </a:r>
          </a:p>
          <a:p>
            <a:pPr>
              <a:defRPr sz="1100">
                <a:solidFill>
                  <a:srgbClr val="0F172A"/>
                </a:solidFill>
              </a:defRPr>
            </a:pPr>
            <a:r>
              <a:t>When asking about missing data (e.g. battery chemistry), semantic search returned random chunks with low scores (~0.29) instead of declaring insufficient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PROBLEM RESOLUTION</a:t>
            </a:r>
          </a:p>
          <a:p>
            <a:pPr>
              <a:defRPr sz="2400" b="1">
                <a:solidFill>
                  <a:srgbClr val="1E3A8A"/>
                </a:solidFill>
              </a:defRPr>
            </a:pPr>
            <a:r>
              <a:t>Solutions &amp; Engineering Fixes Implemented</a:t>
            </a:r>
          </a:p>
        </p:txBody>
      </p:sp>
      <p:sp>
        <p:nvSpPr>
          <p:cNvPr id="3" name="Rounded Rectangle 2"/>
          <p:cNvSpPr/>
          <p:nvPr/>
        </p:nvSpPr>
        <p:spPr>
          <a:xfrm>
            <a:off x="731520" y="164592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32720" cy="685800"/>
          </a:xfrm>
          <a:prstGeom prst="rect">
            <a:avLst/>
          </a:prstGeom>
          <a:noFill/>
        </p:spPr>
        <p:txBody>
          <a:bodyPr wrap="square">
            <a:spAutoFit/>
          </a:bodyPr>
          <a:lstStyle/>
          <a:p>
            <a:pPr>
              <a:defRPr sz="1300" b="1">
                <a:solidFill>
                  <a:srgbClr val="10B981"/>
                </a:solidFill>
              </a:defRPr>
            </a:pPr>
            <a:r>
              <a:t>✔ 1. Automated Heuristic OCR Detection</a:t>
            </a:r>
          </a:p>
          <a:p>
            <a:pPr>
              <a:defRPr sz="1100">
                <a:solidFill>
                  <a:srgbClr val="0F172A"/>
                </a:solidFill>
              </a:defRPr>
            </a:pPr>
            <a:r>
              <a:t>Built an inspection rule in pdf_extractor.py: if pages contain images but average text is under 40 characters, the system flags ocr_warning = True and displays ⚠️ Scanned in the UI.</a:t>
            </a:r>
          </a:p>
        </p:txBody>
      </p:sp>
      <p:sp>
        <p:nvSpPr>
          <p:cNvPr id="5" name="Rounded Rectangle 4"/>
          <p:cNvSpPr/>
          <p:nvPr/>
        </p:nvSpPr>
        <p:spPr>
          <a:xfrm>
            <a:off x="731520" y="260604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97480"/>
            <a:ext cx="10332720" cy="685800"/>
          </a:xfrm>
          <a:prstGeom prst="rect">
            <a:avLst/>
          </a:prstGeom>
          <a:noFill/>
        </p:spPr>
        <p:txBody>
          <a:bodyPr wrap="square">
            <a:spAutoFit/>
          </a:bodyPr>
          <a:lstStyle/>
          <a:p>
            <a:pPr>
              <a:defRPr sz="1300" b="1">
                <a:solidFill>
                  <a:srgbClr val="10B981"/>
                </a:solidFill>
              </a:defRPr>
            </a:pPr>
            <a:r>
              <a:t>✔ 2. PyMuPDF Modern API Migration</a:t>
            </a:r>
          </a:p>
          <a:p>
            <a:pPr>
              <a:defRPr sz="1100">
                <a:solidFill>
                  <a:srgbClr val="0F172A"/>
                </a:solidFill>
              </a:defRPr>
            </a:pPr>
            <a:r>
              <a:t>Refactored code to import pymupdf as fitz and used standard page.insert_textbox(rect, text, fontsize=9), resolving parameter errors and preventing text clipping.</a:t>
            </a:r>
          </a:p>
        </p:txBody>
      </p:sp>
      <p:sp>
        <p:nvSpPr>
          <p:cNvPr id="7" name="Rounded Rectangle 6"/>
          <p:cNvSpPr/>
          <p:nvPr/>
        </p:nvSpPr>
        <p:spPr>
          <a:xfrm>
            <a:off x="731520" y="356616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657600"/>
            <a:ext cx="10332720" cy="685800"/>
          </a:xfrm>
          <a:prstGeom prst="rect">
            <a:avLst/>
          </a:prstGeom>
          <a:noFill/>
        </p:spPr>
        <p:txBody>
          <a:bodyPr wrap="square">
            <a:spAutoFit/>
          </a:bodyPr>
          <a:lstStyle/>
          <a:p>
            <a:pPr>
              <a:defRPr sz="1300" b="1">
                <a:solidFill>
                  <a:srgbClr val="10B981"/>
                </a:solidFill>
              </a:defRPr>
            </a:pPr>
            <a:r>
              <a:t>✔ 3. Global Database Setup Fixture (conftest.py)</a:t>
            </a:r>
          </a:p>
          <a:p>
            <a:pPr>
              <a:defRPr sz="1100">
                <a:solidFill>
                  <a:srgbClr val="0F172A"/>
                </a:solidFill>
              </a:defRPr>
            </a:pPr>
            <a:r>
              <a:t>Created tests/conftest.py with an autouse=True session fixture calling init_db(), ensuring all SQLite tables exist prior to any test client execution.</a:t>
            </a:r>
          </a:p>
        </p:txBody>
      </p:sp>
      <p:sp>
        <p:nvSpPr>
          <p:cNvPr id="9" name="Rounded Rectangle 8"/>
          <p:cNvSpPr/>
          <p:nvPr/>
        </p:nvSpPr>
        <p:spPr>
          <a:xfrm>
            <a:off x="731520" y="452628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17720"/>
            <a:ext cx="10332720" cy="685800"/>
          </a:xfrm>
          <a:prstGeom prst="rect">
            <a:avLst/>
          </a:prstGeom>
          <a:noFill/>
        </p:spPr>
        <p:txBody>
          <a:bodyPr wrap="square">
            <a:spAutoFit/>
          </a:bodyPr>
          <a:lstStyle/>
          <a:p>
            <a:pPr>
              <a:defRPr sz="1300" b="1">
                <a:solidFill>
                  <a:srgbClr val="10B981"/>
                </a:solidFill>
              </a:defRPr>
            </a:pPr>
            <a:r>
              <a:t>✔ 4. Added Configuration Settings</a:t>
            </a:r>
          </a:p>
          <a:p>
            <a:pPr>
              <a:defRPr sz="1100">
                <a:solidFill>
                  <a:srgbClr val="0F172A"/>
                </a:solidFill>
              </a:defRPr>
            </a:pPr>
            <a:r>
              <a:t>Updated core/config.py to define STREAMLIT_PORT: int = 8501 and BASE_DIR: Path = BASE_DIR, resolving all Pydantic attribute errors.</a:t>
            </a:r>
          </a:p>
        </p:txBody>
      </p:sp>
      <p:sp>
        <p:nvSpPr>
          <p:cNvPr id="11" name="Rounded Rectangle 10"/>
          <p:cNvSpPr/>
          <p:nvPr/>
        </p:nvSpPr>
        <p:spPr>
          <a:xfrm>
            <a:off x="731520" y="5486400"/>
            <a:ext cx="10728655" cy="868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332720" cy="685800"/>
          </a:xfrm>
          <a:prstGeom prst="rect">
            <a:avLst/>
          </a:prstGeom>
          <a:noFill/>
        </p:spPr>
        <p:txBody>
          <a:bodyPr wrap="square">
            <a:spAutoFit/>
          </a:bodyPr>
          <a:lstStyle/>
          <a:p>
            <a:pPr>
              <a:defRPr sz="1300" b="1">
                <a:solidFill>
                  <a:srgbClr val="10B981"/>
                </a:solidFill>
              </a:defRPr>
            </a:pPr>
            <a:r>
              <a:t>✔ 5. Hybrid Lexical Plausibility Guardrail</a:t>
            </a:r>
          </a:p>
          <a:p>
            <a:pPr>
              <a:defRPr sz="1100">
                <a:solidFill>
                  <a:srgbClr val="0F172A"/>
                </a:solidFill>
              </a:defRPr>
            </a:pPr>
            <a:r>
              <a:t>Implemented a dual-check in rag_pipeline.py combining a 0.25 similarity threshold with non-stopword keyword overlap to reliably identify insufficient evidence.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TEST VERIFICATION &amp; PLOTS</a:t>
            </a:r>
          </a:p>
          <a:p>
            <a:pPr>
              <a:defRPr sz="2400" b="1">
                <a:solidFill>
                  <a:srgbClr val="1E3A8A"/>
                </a:solidFill>
              </a:defRPr>
            </a:pPr>
            <a:r>
              <a:t>Automated Testing &amp; Empirical Evaluation Metrics</a:t>
            </a:r>
          </a:p>
        </p:txBody>
      </p:sp>
      <p:sp>
        <p:nvSpPr>
          <p:cNvPr id="3" name="Rounded Rectangle 2"/>
          <p:cNvSpPr/>
          <p:nvPr/>
        </p:nvSpPr>
        <p:spPr>
          <a:xfrm>
            <a:off x="731520" y="1645920"/>
            <a:ext cx="411480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3749040" cy="411480"/>
          </a:xfrm>
          <a:prstGeom prst="rect">
            <a:avLst/>
          </a:prstGeom>
          <a:noFill/>
        </p:spPr>
        <p:txBody>
          <a:bodyPr wrap="square">
            <a:spAutoFit/>
          </a:bodyPr>
          <a:lstStyle/>
          <a:p>
            <a:pPr>
              <a:defRPr sz="1500" b="1">
                <a:solidFill>
                  <a:srgbClr val="1E3A8A"/>
                </a:solidFill>
              </a:defRPr>
            </a:pPr>
            <a:r>
              <a:t>Automated Pytest Suite</a:t>
            </a:r>
          </a:p>
        </p:txBody>
      </p:sp>
      <p:sp>
        <p:nvSpPr>
          <p:cNvPr id="5" name="TextBox 4"/>
          <p:cNvSpPr txBox="1"/>
          <p:nvPr/>
        </p:nvSpPr>
        <p:spPr>
          <a:xfrm>
            <a:off x="868680" y="2148840"/>
            <a:ext cx="3840480" cy="777240"/>
          </a:xfrm>
          <a:prstGeom prst="rect">
            <a:avLst/>
          </a:prstGeom>
          <a:noFill/>
        </p:spPr>
        <p:txBody>
          <a:bodyPr wrap="square">
            <a:spAutoFit/>
          </a:bodyPr>
          <a:lstStyle/>
          <a:p>
            <a:pPr>
              <a:defRPr sz="1800" b="1">
                <a:solidFill>
                  <a:srgbClr val="10B981"/>
                </a:solidFill>
              </a:defRPr>
            </a:pPr>
            <a:r>
              <a:t>20 / 20 Tests Passed (100%)</a:t>
            </a:r>
          </a:p>
          <a:p>
            <a:pPr>
              <a:defRPr sz="1000">
                <a:solidFill>
                  <a:srgbClr val="0F172A"/>
                </a:solidFill>
              </a:defRPr>
            </a:pPr>
            <a:r>
              <a:t>Verified PDF extraction, chunking, ChromaDB, and REST APIs.</a:t>
            </a:r>
          </a:p>
        </p:txBody>
      </p:sp>
      <p:sp>
        <p:nvSpPr>
          <p:cNvPr id="6" name="Rounded Rectangle 5"/>
          <p:cNvSpPr/>
          <p:nvPr/>
        </p:nvSpPr>
        <p:spPr>
          <a:xfrm>
            <a:off x="731520" y="3200400"/>
            <a:ext cx="4114800" cy="13716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10128"/>
            <a:ext cx="3749040" cy="411480"/>
          </a:xfrm>
          <a:prstGeom prst="rect">
            <a:avLst/>
          </a:prstGeom>
          <a:noFill/>
        </p:spPr>
        <p:txBody>
          <a:bodyPr wrap="square">
            <a:spAutoFit/>
          </a:bodyPr>
          <a:lstStyle/>
          <a:p>
            <a:pPr>
              <a:defRPr sz="1500" b="1">
                <a:solidFill>
                  <a:srgbClr val="1E3A8A"/>
                </a:solidFill>
              </a:defRPr>
            </a:pPr>
            <a:r>
              <a:t>RAG Benchmark Accuracy</a:t>
            </a:r>
          </a:p>
        </p:txBody>
      </p:sp>
      <p:sp>
        <p:nvSpPr>
          <p:cNvPr id="8" name="TextBox 7"/>
          <p:cNvSpPr txBox="1"/>
          <p:nvPr/>
        </p:nvSpPr>
        <p:spPr>
          <a:xfrm>
            <a:off x="868680" y="3703320"/>
            <a:ext cx="3840480" cy="777240"/>
          </a:xfrm>
          <a:prstGeom prst="rect">
            <a:avLst/>
          </a:prstGeom>
          <a:noFill/>
        </p:spPr>
        <p:txBody>
          <a:bodyPr wrap="square">
            <a:spAutoFit/>
          </a:bodyPr>
          <a:lstStyle/>
          <a:p>
            <a:pPr>
              <a:defRPr sz="1800" b="1">
                <a:solidFill>
                  <a:srgbClr val="10B981"/>
                </a:solidFill>
              </a:defRPr>
            </a:pPr>
            <a:r>
              <a:t>100% Hit Rate | 0% Hallucination</a:t>
            </a:r>
          </a:p>
          <a:p>
            <a:pPr>
              <a:defRPr sz="1000">
                <a:solidFill>
                  <a:srgbClr val="0F172A"/>
                </a:solidFill>
              </a:defRPr>
            </a:pPr>
            <a:r>
              <a:t>10/10 automotive domain queries retrieved with exact page citations.</a:t>
            </a:r>
          </a:p>
        </p:txBody>
      </p:sp>
      <p:sp>
        <p:nvSpPr>
          <p:cNvPr id="9" name="Rounded Rectangle 8"/>
          <p:cNvSpPr/>
          <p:nvPr/>
        </p:nvSpPr>
        <p:spPr>
          <a:xfrm>
            <a:off x="731520" y="4754880"/>
            <a:ext cx="4114800" cy="15544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64608"/>
            <a:ext cx="3749040" cy="411480"/>
          </a:xfrm>
          <a:prstGeom prst="rect">
            <a:avLst/>
          </a:prstGeom>
          <a:noFill/>
        </p:spPr>
        <p:txBody>
          <a:bodyPr wrap="square">
            <a:spAutoFit/>
          </a:bodyPr>
          <a:lstStyle/>
          <a:p>
            <a:pPr>
              <a:defRPr sz="1500" b="1">
                <a:solidFill>
                  <a:srgbClr val="1E3A8A"/>
                </a:solidFill>
              </a:defRPr>
            </a:pPr>
            <a:r>
              <a:t>110-Page Scalability &amp; Latency</a:t>
            </a:r>
          </a:p>
        </p:txBody>
      </p:sp>
      <p:sp>
        <p:nvSpPr>
          <p:cNvPr id="11" name="TextBox 10"/>
          <p:cNvSpPr txBox="1"/>
          <p:nvPr/>
        </p:nvSpPr>
        <p:spPr>
          <a:xfrm>
            <a:off x="868680" y="5257800"/>
            <a:ext cx="3840480" cy="914400"/>
          </a:xfrm>
          <a:prstGeom prst="rect">
            <a:avLst/>
          </a:prstGeom>
          <a:noFill/>
        </p:spPr>
        <p:txBody>
          <a:bodyPr wrap="square">
            <a:spAutoFit/>
          </a:bodyPr>
          <a:lstStyle/>
          <a:p>
            <a:pPr>
              <a:defRPr sz="1800" b="1">
                <a:solidFill>
                  <a:srgbClr val="2563EB"/>
                </a:solidFill>
              </a:defRPr>
            </a:pPr>
            <a:r>
              <a:t>1.4s Average Query Latency</a:t>
            </a:r>
          </a:p>
          <a:p>
            <a:pPr>
              <a:defRPr sz="1000">
                <a:solidFill>
                  <a:srgbClr val="0F172A"/>
                </a:solidFill>
              </a:defRPr>
            </a:pPr>
            <a:r>
              <a:t>Indexed 110-page master HLD in 2.1s; zero memory leaks across 124 vector chunks.</a:t>
            </a:r>
          </a:p>
        </p:txBody>
      </p:sp>
      <p:pic>
        <p:nvPicPr>
          <p:cNvPr id="12" name="Picture 11" descr="evaluation_metrics_plot.png"/>
          <p:cNvPicPr>
            <a:picLocks noChangeAspect="1"/>
          </p:cNvPicPr>
          <p:nvPr/>
        </p:nvPicPr>
        <p:blipFill>
          <a:blip r:embed="rId2"/>
          <a:stretch>
            <a:fillRect/>
          </a:stretch>
        </p:blipFill>
        <p:spPr>
          <a:xfrm>
            <a:off x="5029200" y="1645920"/>
            <a:ext cx="6400800" cy="46634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FUTURE SCOPE</a:t>
            </a:r>
          </a:p>
          <a:p>
            <a:pPr>
              <a:defRPr sz="2400" b="1">
                <a:solidFill>
                  <a:srgbClr val="1E3A8A"/>
                </a:solidFill>
              </a:defRPr>
            </a:pPr>
            <a:r>
              <a:t>Future Enhancements &amp; Production Roadmap</a:t>
            </a:r>
          </a:p>
        </p:txBody>
      </p:sp>
      <p:sp>
        <p:nvSpPr>
          <p:cNvPr id="3" name="Rounded Rectangle 2"/>
          <p:cNvSpPr/>
          <p:nvPr/>
        </p:nvSpPr>
        <p:spPr>
          <a:xfrm>
            <a:off x="731520" y="1645920"/>
            <a:ext cx="10728655" cy="1051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10332720" cy="822960"/>
          </a:xfrm>
          <a:prstGeom prst="rect">
            <a:avLst/>
          </a:prstGeom>
          <a:noFill/>
        </p:spPr>
        <p:txBody>
          <a:bodyPr wrap="square">
            <a:spAutoFit/>
          </a:bodyPr>
          <a:lstStyle/>
          <a:p>
            <a:pPr>
              <a:defRPr sz="1400" b="1">
                <a:solidFill>
                  <a:srgbClr val="2563EB"/>
                </a:solidFill>
              </a:defRPr>
            </a:pPr>
            <a:r>
              <a:t>🚀 Direct ARXML File Ingestion</a:t>
            </a:r>
          </a:p>
          <a:p>
            <a:pPr>
              <a:defRPr sz="1150">
                <a:solidFill>
                  <a:srgbClr val="0F172A"/>
                </a:solidFill>
              </a:defRPr>
            </a:pPr>
            <a:r>
              <a:t>Extend the ingestion layer to parse native AUTOSAR .arxml XML files directly, extracting software component prototypes, runnables, and PDU matrices without relying on PDF text.</a:t>
            </a:r>
          </a:p>
        </p:txBody>
      </p:sp>
      <p:sp>
        <p:nvSpPr>
          <p:cNvPr id="5" name="Rounded Rectangle 4"/>
          <p:cNvSpPr/>
          <p:nvPr/>
        </p:nvSpPr>
        <p:spPr>
          <a:xfrm>
            <a:off x="731520" y="2788920"/>
            <a:ext cx="10728655" cy="1051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98648"/>
            <a:ext cx="10332720" cy="822960"/>
          </a:xfrm>
          <a:prstGeom prst="rect">
            <a:avLst/>
          </a:prstGeom>
          <a:noFill/>
        </p:spPr>
        <p:txBody>
          <a:bodyPr wrap="square">
            <a:spAutoFit/>
          </a:bodyPr>
          <a:lstStyle/>
          <a:p>
            <a:pPr>
              <a:defRPr sz="1400" b="1">
                <a:solidFill>
                  <a:srgbClr val="2563EB"/>
                </a:solidFill>
              </a:defRPr>
            </a:pPr>
            <a:r>
              <a:t>🚀 Graph RAG (Knowledge Graph with Neo4j)</a:t>
            </a:r>
          </a:p>
          <a:p>
            <a:pPr>
              <a:defRPr sz="1150">
                <a:solidFill>
                  <a:srgbClr val="0F172A"/>
                </a:solidFill>
              </a:defRPr>
            </a:pPr>
            <a:r>
              <a:t>Construct an explicit entity-relationship graph connecting ECUs, SWCs, and CAN signals to enable cross-ECU signal flow tracing and impact analysis.</a:t>
            </a:r>
          </a:p>
        </p:txBody>
      </p:sp>
      <p:sp>
        <p:nvSpPr>
          <p:cNvPr id="7" name="Rounded Rectangle 6"/>
          <p:cNvSpPr/>
          <p:nvPr/>
        </p:nvSpPr>
        <p:spPr>
          <a:xfrm>
            <a:off x="731520" y="3931920"/>
            <a:ext cx="10728655" cy="1051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41648"/>
            <a:ext cx="10332720" cy="822960"/>
          </a:xfrm>
          <a:prstGeom prst="rect">
            <a:avLst/>
          </a:prstGeom>
          <a:noFill/>
        </p:spPr>
        <p:txBody>
          <a:bodyPr wrap="square">
            <a:spAutoFit/>
          </a:bodyPr>
          <a:lstStyle/>
          <a:p>
            <a:pPr>
              <a:defRPr sz="1400" b="1">
                <a:solidFill>
                  <a:srgbClr val="2563EB"/>
                </a:solidFill>
              </a:defRPr>
            </a:pPr>
            <a:r>
              <a:t>🚀 Multimodal Vision AI for Diagrams</a:t>
            </a:r>
          </a:p>
          <a:p>
            <a:pPr>
              <a:defRPr sz="1150">
                <a:solidFill>
                  <a:srgbClr val="0F172A"/>
                </a:solidFill>
              </a:defRPr>
            </a:pPr>
            <a:r>
              <a:t>Integrate Vision-LLMs (such as Google Gemini Vision) to automatically interpret block schematics, ECU pinout drawings, and timing sequence charts.</a:t>
            </a:r>
          </a:p>
        </p:txBody>
      </p:sp>
      <p:sp>
        <p:nvSpPr>
          <p:cNvPr id="9" name="Rounded Rectangle 8"/>
          <p:cNvSpPr/>
          <p:nvPr/>
        </p:nvSpPr>
        <p:spPr>
          <a:xfrm>
            <a:off x="731520" y="5074920"/>
            <a:ext cx="10728655" cy="1051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84648"/>
            <a:ext cx="10332720" cy="822960"/>
          </a:xfrm>
          <a:prstGeom prst="rect">
            <a:avLst/>
          </a:prstGeom>
          <a:noFill/>
        </p:spPr>
        <p:txBody>
          <a:bodyPr wrap="square">
            <a:spAutoFit/>
          </a:bodyPr>
          <a:lstStyle/>
          <a:p>
            <a:pPr>
              <a:defRPr sz="1400" b="1">
                <a:solidFill>
                  <a:srgbClr val="2563EB"/>
                </a:solidFill>
              </a:defRPr>
            </a:pPr>
            <a:r>
              <a:t>🚀 Enterprise PostgreSQL &amp; Cloud Deployment</a:t>
            </a:r>
          </a:p>
          <a:p>
            <a:pPr>
              <a:defRPr sz="1150">
                <a:solidFill>
                  <a:srgbClr val="0F172A"/>
                </a:solidFill>
              </a:defRPr>
            </a:pPr>
            <a:r>
              <a:t>Scale the relational database from SQLite to PostgreSQL with pgvector, adding role-based access control (RBAC) and Kubernetes container orchestration.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2563EB"/>
                </a:solidFill>
              </a:defRPr>
            </a:pPr>
            <a:r>
              <a:t>CONCLUSION</a:t>
            </a:r>
          </a:p>
          <a:p>
            <a:pPr>
              <a:defRPr sz="2400" b="1">
                <a:solidFill>
                  <a:srgbClr val="1E3A8A"/>
                </a:solidFill>
              </a:defRPr>
            </a:pPr>
            <a:r>
              <a:t>Conclusion &amp; Project Summary</a:t>
            </a:r>
          </a:p>
        </p:txBody>
      </p:sp>
      <p:sp>
        <p:nvSpPr>
          <p:cNvPr id="3" name="Rounded Rectangle 2"/>
          <p:cNvSpPr/>
          <p:nvPr/>
        </p:nvSpPr>
        <p:spPr>
          <a:xfrm>
            <a:off x="731520" y="164592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4754880" cy="411480"/>
          </a:xfrm>
          <a:prstGeom prst="rect">
            <a:avLst/>
          </a:prstGeom>
          <a:noFill/>
        </p:spPr>
        <p:txBody>
          <a:bodyPr wrap="square">
            <a:spAutoFit/>
          </a:bodyPr>
          <a:lstStyle/>
          <a:p>
            <a:pPr>
              <a:defRPr sz="1500" b="1">
                <a:solidFill>
                  <a:srgbClr val="1E3A8A"/>
                </a:solidFill>
              </a:defRPr>
            </a:pPr>
            <a:r>
              <a:t>Project Summary</a:t>
            </a:r>
          </a:p>
        </p:txBody>
      </p:sp>
      <p:sp>
        <p:nvSpPr>
          <p:cNvPr id="5" name="TextBox 4"/>
          <p:cNvSpPr txBox="1"/>
          <p:nvPr/>
        </p:nvSpPr>
        <p:spPr>
          <a:xfrm>
            <a:off x="914400" y="2194560"/>
            <a:ext cx="4754880" cy="3840480"/>
          </a:xfrm>
          <a:prstGeom prst="rect">
            <a:avLst/>
          </a:prstGeom>
          <a:noFill/>
        </p:spPr>
        <p:txBody>
          <a:bodyPr wrap="square">
            <a:spAutoFit/>
          </a:bodyPr>
          <a:lstStyle/>
          <a:p>
            <a:pPr>
              <a:spcAft>
                <a:spcPts val="1200"/>
              </a:spcAft>
              <a:defRPr sz="1300">
                <a:solidFill>
                  <a:srgbClr val="1E3A8A"/>
                </a:solidFill>
              </a:defRPr>
            </a:pPr>
            <a:r>
              <a:t>✔ Built a complete, working, end-to-end Automotive Engineering AI Assistant.</a:t>
            </a:r>
          </a:p>
          <a:p>
            <a:pPr>
              <a:spcAft>
                <a:spcPts val="1200"/>
              </a:spcAft>
              <a:defRPr sz="1300">
                <a:solidFill>
                  <a:srgbClr val="1E3A8A"/>
                </a:solidFill>
              </a:defRPr>
            </a:pPr>
            <a:r>
              <a:t>✔ Successfully automates the analysis of complex 100+ page AUTOSAR HLD documents.</a:t>
            </a:r>
          </a:p>
          <a:p>
            <a:pPr>
              <a:spcAft>
                <a:spcPts val="1200"/>
              </a:spcAft>
              <a:defRPr sz="1300">
                <a:solidFill>
                  <a:srgbClr val="1E3A8A"/>
                </a:solidFill>
              </a:defRPr>
            </a:pPr>
            <a:r>
              <a:t>✔ Guarantees 100% on-premises data privacy and zero hallucination with exact page citations.</a:t>
            </a:r>
          </a:p>
          <a:p>
            <a:pPr>
              <a:spcAft>
                <a:spcPts val="1200"/>
              </a:spcAft>
              <a:defRPr sz="1300">
                <a:solidFill>
                  <a:srgbClr val="1E3A8A"/>
                </a:solidFill>
              </a:defRPr>
            </a:pPr>
            <a:r>
              <a:t>✔ Validated with a 100% test pass rate (20/20) and 100% benchmark retrieval hit rate.</a:t>
            </a:r>
          </a:p>
          <a:p>
            <a:pPr>
              <a:spcAft>
                <a:spcPts val="1200"/>
              </a:spcAft>
              <a:defRPr sz="1300">
                <a:solidFill>
                  <a:srgbClr val="1E3A8A"/>
                </a:solidFill>
              </a:defRPr>
            </a:pPr>
            <a:r>
              <a:t>✔ Ready for deployment and future ARXML / Graph RAG extensions.</a:t>
            </a:r>
          </a:p>
        </p:txBody>
      </p:sp>
      <p:sp>
        <p:nvSpPr>
          <p:cNvPr id="6" name="Rounded Rectangle 5"/>
          <p:cNvSpPr/>
          <p:nvPr/>
        </p:nvSpPr>
        <p:spPr>
          <a:xfrm>
            <a:off x="6309360" y="1645920"/>
            <a:ext cx="5120640" cy="45720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2377440"/>
            <a:ext cx="4572000" cy="3200400"/>
          </a:xfrm>
          <a:prstGeom prst="rect">
            <a:avLst/>
          </a:prstGeom>
          <a:noFill/>
        </p:spPr>
        <p:txBody>
          <a:bodyPr wrap="square">
            <a:spAutoFit/>
          </a:bodyPr>
          <a:lstStyle/>
          <a:p>
            <a:pPr>
              <a:spcAft>
                <a:spcPts val="1600"/>
              </a:spcAft>
              <a:defRPr sz="3600" b="1">
                <a:solidFill>
                  <a:srgbClr val="2563EB"/>
                </a:solidFill>
              </a:defRPr>
            </a:pPr>
            <a:r>
              <a:t>Thank You!</a:t>
            </a:r>
          </a:p>
          <a:p>
            <a:pPr>
              <a:spcAft>
                <a:spcPts val="1400"/>
              </a:spcAft>
              <a:defRPr sz="2000" b="1">
                <a:solidFill>
                  <a:srgbClr val="1E3A8A"/>
                </a:solidFill>
              </a:defRPr>
            </a:pPr>
            <a:r>
              <a:t>Questions &amp; Faculty Discussion</a:t>
            </a:r>
          </a:p>
          <a:p>
            <a:pPr>
              <a:defRPr sz="1300">
                <a:solidFill>
                  <a:srgbClr val="475569"/>
                </a:solidFill>
              </a:defRPr>
            </a:pPr>
            <a:r>
              <a:t>Open for questions, architectural review, and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